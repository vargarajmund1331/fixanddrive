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67" r:id="rId3"/>
    <p:sldId id="266" r:id="rId4"/>
    <p:sldId id="257" r:id="rId5"/>
    <p:sldId id="258" r:id="rId6"/>
    <p:sldId id="259" r:id="rId7"/>
    <p:sldId id="260" r:id="rId8"/>
    <p:sldId id="261" r:id="rId9"/>
    <p:sldId id="262" r:id="rId10"/>
    <p:sldId id="263" r:id="rId11"/>
    <p:sldId id="264" r:id="rId12"/>
    <p:sldId id="265"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asirt" initials="f" lastIdx="1" clrIdx="0">
    <p:extLst>
      <p:ext uri="{19B8F6BF-5375-455C-9EA6-DF929625EA0E}">
        <p15:presenceInfo xmlns:p15="http://schemas.microsoft.com/office/powerpoint/2012/main" userId="fasirt"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0" d="100"/>
          <a:sy n="110" d="100"/>
        </p:scale>
        <p:origin x="49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ímdia">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hu-HU"/>
              <a:t>Mintacím szerkesztése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u-HU"/>
              <a:t>Kattintson ide az alcím mintájának szerkesztéséhez</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3/5/2026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ím és tartal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dirty="0"/>
          </a:p>
        </p:txBody>
      </p:sp>
      <p:sp>
        <p:nvSpPr>
          <p:cNvPr id="3" name="Content Placeholder 2"/>
          <p:cNvSpPr>
            <a:spLocks noGrp="1"/>
          </p:cNvSpPr>
          <p:nvPr>
            <p:ph idx="1"/>
          </p:nvPr>
        </p:nvSpPr>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3/5/2026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zakaszfejléc">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hu-HU"/>
              <a:t>Mintacím szerkesztése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u-HU"/>
              <a:t>Mintaszöveg szerkesztése</a:t>
            </a:r>
          </a:p>
        </p:txBody>
      </p:sp>
      <p:sp>
        <p:nvSpPr>
          <p:cNvPr id="4" name="Date Placeholder 3"/>
          <p:cNvSpPr>
            <a:spLocks noGrp="1"/>
          </p:cNvSpPr>
          <p:nvPr>
            <p:ph type="dt" sz="half" idx="10"/>
          </p:nvPr>
        </p:nvSpPr>
        <p:spPr/>
        <p:txBody>
          <a:bodyPr/>
          <a:lstStyle/>
          <a:p>
            <a:fld id="{8E36636D-D922-432D-A958-524484B5923D}" type="datetimeFigureOut">
              <a:rPr lang="en-US" dirty="0"/>
              <a:pPr/>
              <a:t>3/5/2026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tartalomrész">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5" name="Date Placeholder 4"/>
          <p:cNvSpPr>
            <a:spLocks noGrp="1"/>
          </p:cNvSpPr>
          <p:nvPr>
            <p:ph type="dt" sz="half" idx="10"/>
          </p:nvPr>
        </p:nvSpPr>
        <p:spPr/>
        <p:txBody>
          <a:bodyPr/>
          <a:lstStyle/>
          <a:p>
            <a:fld id="{8E36636D-D922-432D-A958-524484B5923D}" type="datetimeFigureOut">
              <a:rPr lang="en-US" dirty="0"/>
              <a:pPr/>
              <a:t>3/5/2026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Összehasonlítás">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hu-HU"/>
              <a:t>Mintacím szerkesztése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7" name="Date Placeholder 6"/>
          <p:cNvSpPr>
            <a:spLocks noGrp="1"/>
          </p:cNvSpPr>
          <p:nvPr>
            <p:ph type="dt" sz="half" idx="10"/>
          </p:nvPr>
        </p:nvSpPr>
        <p:spPr/>
        <p:txBody>
          <a:bodyPr/>
          <a:lstStyle/>
          <a:p>
            <a:fld id="{8E36636D-D922-432D-A958-524484B5923D}" type="datetimeFigureOut">
              <a:rPr lang="en-US" dirty="0"/>
              <a:pPr/>
              <a:t>3/5/2026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sak cí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dirty="0"/>
          </a:p>
        </p:txBody>
      </p:sp>
      <p:sp>
        <p:nvSpPr>
          <p:cNvPr id="3" name="Date Placeholder 2"/>
          <p:cNvSpPr>
            <a:spLocks noGrp="1"/>
          </p:cNvSpPr>
          <p:nvPr>
            <p:ph type="dt" sz="half" idx="10"/>
          </p:nvPr>
        </p:nvSpPr>
        <p:spPr/>
        <p:txBody>
          <a:bodyPr/>
          <a:lstStyle/>
          <a:p>
            <a:fld id="{8E36636D-D922-432D-A958-524484B5923D}" type="datetimeFigureOut">
              <a:rPr lang="en-US" dirty="0"/>
              <a:pPr/>
              <a:t>3/5/2026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Üres">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36636D-D922-432D-A958-524484B5923D}" type="datetimeFigureOut">
              <a:rPr lang="en-US" dirty="0"/>
              <a:pPr/>
              <a:t>3/5/2026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artalomrész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hu-HU"/>
              <a:t>Mintacím szerkesztése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5" name="Date Placeholder 4"/>
          <p:cNvSpPr>
            <a:spLocks noGrp="1"/>
          </p:cNvSpPr>
          <p:nvPr>
            <p:ph type="dt" sz="half" idx="10"/>
          </p:nvPr>
        </p:nvSpPr>
        <p:spPr/>
        <p:txBody>
          <a:bodyPr/>
          <a:lstStyle/>
          <a:p>
            <a:fld id="{8E36636D-D922-432D-A958-524484B5923D}" type="datetimeFigureOut">
              <a:rPr lang="en-US" dirty="0"/>
              <a:pPr/>
              <a:t>3/5/2026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Kép képaláírással">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hu-HU"/>
              <a:t>Mintacím szerkesztése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u-HU"/>
              <a:t>Kép beszúrásához kattintson az ikonra</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5" name="Date Placeholder 4"/>
          <p:cNvSpPr>
            <a:spLocks noGrp="1"/>
          </p:cNvSpPr>
          <p:nvPr>
            <p:ph type="dt" sz="half" idx="10"/>
          </p:nvPr>
        </p:nvSpPr>
        <p:spPr/>
        <p:txBody>
          <a:bodyPr/>
          <a:lstStyle/>
          <a:p>
            <a:fld id="{8E36636D-D922-432D-A958-524484B5923D}" type="datetimeFigureOut">
              <a:rPr lang="en-US" dirty="0"/>
              <a:pPr/>
              <a:t>3/5/2026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ámakép képaláírással">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hu-HU"/>
              <a:t>Mintacím szerkesztése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u-HU"/>
              <a:t>Kép beszúrásához kattintson az ikonra</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ate Placeholder 4"/>
          <p:cNvSpPr>
            <a:spLocks noGrp="1"/>
          </p:cNvSpPr>
          <p:nvPr>
            <p:ph type="dt" sz="half" idx="10"/>
          </p:nvPr>
        </p:nvSpPr>
        <p:spPr/>
        <p:txBody>
          <a:bodyPr/>
          <a:lstStyle/>
          <a:p>
            <a:fld id="{48A87A34-81AB-432B-8DAE-1953F412C126}" type="datetimeFigureOut">
              <a:rPr lang="en-US" dirty="0"/>
              <a:t>3/5/2026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ím és képaláírás">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hu-HU"/>
              <a:t>Mintacím szerkesztése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ate Placeholder 4"/>
          <p:cNvSpPr>
            <a:spLocks noGrp="1"/>
          </p:cNvSpPr>
          <p:nvPr>
            <p:ph type="dt" sz="half" idx="10"/>
          </p:nvPr>
        </p:nvSpPr>
        <p:spPr/>
        <p:txBody>
          <a:bodyPr/>
          <a:lstStyle/>
          <a:p>
            <a:fld id="{48A87A34-81AB-432B-8DAE-1953F412C126}" type="datetimeFigureOut">
              <a:rPr lang="en-US" dirty="0"/>
              <a:t>3/5/2026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dézet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hu-HU"/>
              <a:t>Mintacím szerkesztése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ate Placeholder 4"/>
          <p:cNvSpPr>
            <a:spLocks noGrp="1"/>
          </p:cNvSpPr>
          <p:nvPr>
            <p:ph type="dt" sz="half" idx="10"/>
          </p:nvPr>
        </p:nvSpPr>
        <p:spPr/>
        <p:txBody>
          <a:bodyPr/>
          <a:lstStyle/>
          <a:p>
            <a:fld id="{48A87A34-81AB-432B-8DAE-1953F412C126}" type="datetimeFigureOut">
              <a:rPr lang="en-US" dirty="0"/>
              <a:t>3/5/2026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évkártya">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hu-HU"/>
              <a:t>Mintacím szerkesztése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ate Placeholder 4"/>
          <p:cNvSpPr>
            <a:spLocks noGrp="1"/>
          </p:cNvSpPr>
          <p:nvPr>
            <p:ph type="dt" sz="half" idx="10"/>
          </p:nvPr>
        </p:nvSpPr>
        <p:spPr/>
        <p:txBody>
          <a:bodyPr/>
          <a:lstStyle/>
          <a:p>
            <a:fld id="{48A87A34-81AB-432B-8DAE-1953F412C126}" type="datetimeFigureOut">
              <a:rPr lang="en-US" dirty="0"/>
              <a:t>3/5/2026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hasáb">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hu-HU"/>
              <a:t>Mintacím szerkesztése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3" name="Date Placeholder 2"/>
          <p:cNvSpPr>
            <a:spLocks noGrp="1"/>
          </p:cNvSpPr>
          <p:nvPr>
            <p:ph type="dt" sz="half" idx="10"/>
          </p:nvPr>
        </p:nvSpPr>
        <p:spPr/>
        <p:txBody>
          <a:bodyPr/>
          <a:lstStyle/>
          <a:p>
            <a:fld id="{48A87A34-81AB-432B-8DAE-1953F412C126}" type="datetimeFigureOut">
              <a:rPr lang="en-US" dirty="0"/>
              <a:t>3/5/2026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képhasáb">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hu-HU"/>
              <a:t>Mintacím szerkesztése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u-HU"/>
              <a:t>Kép beszúrásához kattintson az ikonra</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u-HU"/>
              <a:t>Kép beszúrásához kattintson az ikonra</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u-HU"/>
              <a:t>Kép beszúrásához kattintson az ikonra</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a:t>Mintaszöveg szerkesztése</a:t>
            </a:r>
          </a:p>
        </p:txBody>
      </p:sp>
      <p:sp>
        <p:nvSpPr>
          <p:cNvPr id="3" name="Date Placeholder 2"/>
          <p:cNvSpPr>
            <a:spLocks noGrp="1"/>
          </p:cNvSpPr>
          <p:nvPr>
            <p:ph type="dt" sz="half" idx="10"/>
          </p:nvPr>
        </p:nvSpPr>
        <p:spPr/>
        <p:txBody>
          <a:bodyPr/>
          <a:lstStyle/>
          <a:p>
            <a:fld id="{48A87A34-81AB-432B-8DAE-1953F412C126}" type="datetimeFigureOut">
              <a:rPr lang="en-US" dirty="0"/>
              <a:t>3/5/2026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dirty="0"/>
          </a:p>
        </p:txBody>
      </p:sp>
      <p:sp>
        <p:nvSpPr>
          <p:cNvPr id="3" name="Vertical Text Placeholder 2"/>
          <p:cNvSpPr>
            <a:spLocks noGrp="1"/>
          </p:cNvSpPr>
          <p:nvPr>
            <p:ph type="body" orient="vert" idx="1"/>
          </p:nvPr>
        </p:nvSpPr>
        <p:spPr/>
        <p:txBody>
          <a:bodyPr vert="eaVert" ancho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3/5/2026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Függőleges cím és szöve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hu-HU"/>
              <a:t>Mintacím szerkesztése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3/5/2026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hu-HU"/>
              <a:t>Mintacím szerkesztése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8E36636D-D922-432D-A958-524484B5923D}" type="datetimeFigureOut">
              <a:rPr lang="en-US" dirty="0"/>
              <a:pPr/>
              <a:t>3/5/2026</a:t>
            </a:fld>
            <a:endParaRPr lang="en-US" dirty="0"/>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DF28FB93-0A08-4E7D-8E63-9EFA29F1E093}"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2" r:id="rId10"/>
    <p:sldLayoutId id="2147483853" r:id="rId11"/>
    <p:sldLayoutId id="2147483854" r:id="rId12"/>
    <p:sldLayoutId id="2147483855" r:id="rId13"/>
    <p:sldLayoutId id="2147483858" r:id="rId14"/>
    <p:sldLayoutId id="2147483859" r:id="rId15"/>
    <p:sldLayoutId id="2147483850" r:id="rId16"/>
    <p:sldLayoutId id="2147483851"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8.jp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F31F16CB-6783-45BB-991D-50E9BDBF703C}"/>
              </a:ext>
            </a:extLst>
          </p:cNvPr>
          <p:cNvSpPr>
            <a:spLocks noGrp="1"/>
          </p:cNvSpPr>
          <p:nvPr>
            <p:ph type="ctrTitle"/>
          </p:nvPr>
        </p:nvSpPr>
        <p:spPr>
          <a:xfrm>
            <a:off x="1375983" y="895015"/>
            <a:ext cx="9440034" cy="1828801"/>
          </a:xfrm>
        </p:spPr>
        <p:txBody>
          <a:bodyPr>
            <a:normAutofit/>
          </a:bodyPr>
          <a:lstStyle/>
          <a:p>
            <a:r>
              <a:rPr lang="hu-HU" sz="6000" b="1" dirty="0">
                <a:latin typeface="MS Reference Sans Serif" panose="020B0604030504040204" pitchFamily="34" charset="0"/>
              </a:rPr>
              <a:t>Projekt remek</a:t>
            </a:r>
          </a:p>
        </p:txBody>
      </p:sp>
      <p:sp>
        <p:nvSpPr>
          <p:cNvPr id="3" name="Alcím 2">
            <a:extLst>
              <a:ext uri="{FF2B5EF4-FFF2-40B4-BE49-F238E27FC236}">
                <a16:creationId xmlns:a16="http://schemas.microsoft.com/office/drawing/2014/main" id="{1B5275D5-C3B6-4F58-A3DD-D3A6E5D2355F}"/>
              </a:ext>
            </a:extLst>
          </p:cNvPr>
          <p:cNvSpPr>
            <a:spLocks noGrp="1"/>
          </p:cNvSpPr>
          <p:nvPr>
            <p:ph type="subTitle" idx="1"/>
          </p:nvPr>
        </p:nvSpPr>
        <p:spPr>
          <a:xfrm>
            <a:off x="9280358" y="2723816"/>
            <a:ext cx="4445000" cy="2984500"/>
          </a:xfrm>
        </p:spPr>
        <p:txBody>
          <a:bodyPr>
            <a:normAutofit/>
          </a:bodyPr>
          <a:lstStyle/>
          <a:p>
            <a:pPr algn="l"/>
            <a:endParaRPr lang="hu-HU" dirty="0"/>
          </a:p>
          <a:p>
            <a:pPr algn="l"/>
            <a:r>
              <a:rPr lang="hu-HU" u="sng" dirty="0"/>
              <a:t>Készítette:</a:t>
            </a:r>
          </a:p>
          <a:p>
            <a:pPr algn="l"/>
            <a:r>
              <a:rPr lang="hu-HU" sz="2400" dirty="0"/>
              <a:t>Varga Rajmund</a:t>
            </a:r>
          </a:p>
          <a:p>
            <a:pPr algn="l"/>
            <a:r>
              <a:rPr lang="hu-HU" sz="2400" dirty="0"/>
              <a:t>Báthori Tamás</a:t>
            </a:r>
          </a:p>
          <a:p>
            <a:pPr algn="l"/>
            <a:r>
              <a:rPr lang="hu-HU" sz="2400" dirty="0"/>
              <a:t>Bácsi Gergő</a:t>
            </a:r>
          </a:p>
        </p:txBody>
      </p:sp>
    </p:spTree>
    <p:extLst>
      <p:ext uri="{BB962C8B-B14F-4D97-AF65-F5344CB8AC3E}">
        <p14:creationId xmlns:p14="http://schemas.microsoft.com/office/powerpoint/2010/main" val="3659664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25556C1B-261F-4FC1-8988-B8E6520855A6}"/>
              </a:ext>
            </a:extLst>
          </p:cNvPr>
          <p:cNvSpPr>
            <a:spLocks noGrp="1"/>
          </p:cNvSpPr>
          <p:nvPr>
            <p:ph type="title"/>
          </p:nvPr>
        </p:nvSpPr>
        <p:spPr>
          <a:xfrm>
            <a:off x="919119" y="253332"/>
            <a:ext cx="10353762" cy="1178425"/>
          </a:xfrm>
        </p:spPr>
        <p:txBody>
          <a:bodyPr>
            <a:noAutofit/>
          </a:bodyPr>
          <a:lstStyle/>
          <a:p>
            <a:r>
              <a:rPr lang="hu-HU" sz="4800" dirty="0">
                <a:latin typeface="Arial Black" panose="020B0A04020102020204" pitchFamily="34" charset="0"/>
              </a:rPr>
              <a:t>Fix and Drive</a:t>
            </a:r>
            <a:br>
              <a:rPr lang="hu-HU" sz="4800" dirty="0"/>
            </a:br>
            <a:r>
              <a:rPr lang="hu-HU" sz="4800" dirty="0"/>
              <a:t>(</a:t>
            </a:r>
            <a:r>
              <a:rPr lang="hu-HU" dirty="0" err="1"/>
              <a:t>Hungarian</a:t>
            </a:r>
            <a:r>
              <a:rPr lang="hu-HU" sz="4800" dirty="0"/>
              <a:t>)</a:t>
            </a:r>
          </a:p>
        </p:txBody>
      </p:sp>
      <p:sp>
        <p:nvSpPr>
          <p:cNvPr id="5" name="Rectangle 2">
            <a:extLst>
              <a:ext uri="{FF2B5EF4-FFF2-40B4-BE49-F238E27FC236}">
                <a16:creationId xmlns:a16="http://schemas.microsoft.com/office/drawing/2014/main" id="{A3F9CDF5-F248-4DF5-ACF2-99A2C4700C81}"/>
              </a:ext>
            </a:extLst>
          </p:cNvPr>
          <p:cNvSpPr>
            <a:spLocks noGrp="1" noChangeArrowheads="1"/>
          </p:cNvSpPr>
          <p:nvPr>
            <p:ph idx="1"/>
          </p:nvPr>
        </p:nvSpPr>
        <p:spPr bwMode="auto">
          <a:xfrm>
            <a:off x="625641" y="1693575"/>
            <a:ext cx="11297654"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hu-HU" altLang="hu-HU" sz="2200" b="0" i="0" u="none" strike="noStrike" cap="none" normalizeH="0" baseline="0" dirty="0">
                <a:ln>
                  <a:noFill/>
                </a:ln>
                <a:solidFill>
                  <a:schemeClr val="tx1"/>
                </a:solidFill>
                <a:effectLst>
                  <a:outerShdw blurRad="38100" dist="38100" dir="2700000" algn="tl">
                    <a:srgbClr val="000000">
                      <a:alpha val="43137"/>
                    </a:srgbClr>
                  </a:outerShdw>
                </a:effectLst>
                <a:latin typeface="Consolas" panose="020B0609020204030204" pitchFamily="49" charset="0"/>
              </a:rPr>
              <a:t>A </a:t>
            </a:r>
            <a:r>
              <a:rPr kumimoji="0" lang="hu-HU" altLang="hu-HU" sz="2200" b="1" i="1" u="none" strike="noStrike" cap="none" normalizeH="0" baseline="0" dirty="0">
                <a:ln>
                  <a:noFill/>
                </a:ln>
                <a:solidFill>
                  <a:schemeClr val="tx1"/>
                </a:solidFill>
                <a:effectLst>
                  <a:outerShdw blurRad="38100" dist="38100" dir="2700000" algn="tl">
                    <a:srgbClr val="000000">
                      <a:alpha val="43137"/>
                    </a:srgbClr>
                  </a:outerShdw>
                </a:effectLst>
                <a:latin typeface="Consolas" panose="020B0609020204030204" pitchFamily="49" charset="0"/>
              </a:rPr>
              <a:t>Fix and Drive </a:t>
            </a:r>
            <a:r>
              <a:rPr kumimoji="0" lang="hu-HU" altLang="hu-HU" sz="2200" b="0" i="0" u="none" strike="noStrike" cap="none" normalizeH="0" baseline="0" dirty="0">
                <a:ln>
                  <a:noFill/>
                </a:ln>
                <a:solidFill>
                  <a:schemeClr val="tx1"/>
                </a:solidFill>
                <a:effectLst>
                  <a:outerShdw blurRad="38100" dist="38100" dir="2700000" algn="tl">
                    <a:srgbClr val="000000">
                      <a:alpha val="43137"/>
                    </a:srgbClr>
                  </a:outerShdw>
                </a:effectLst>
                <a:latin typeface="Consolas" panose="020B0609020204030204" pitchFamily="49" charset="0"/>
              </a:rPr>
              <a:t>egy új, feltörekvő autós cég, ami egy saját, komplex szervizhálózatot épített ki. A rendszer gyors, megbízható és szakszerű járműjavításokat tesz lehetővé. Nem csak sima autószervizelésre jó, hanem gördülékeny alkatrész-berendelések és hivatalos műszaki vizsgáztatások is működnek rajta. A központ rendkívül jól felszerelt, és modern, ügyfélbarát módon működik. A céljuk, hogy a hagyományos szerelési munkálatokat és a legújabb járműdiagnosztikát összekössék, miközben átlátható és megbízható marad minden munkafolyamat. Az elmúlt időszakban rengetegen kezdték el használni a Fix and Drive szolgáltatásait, és sok partner épít rájuk új együttműködéseket. A cég saját raktárbázisa segít a várakozási idők csökkentésében és a gyors kiszolgálásban. A Fix and Drive egyre nagyobb név lesz a gépjárműiparban, és az a célja, hogy egy stabil, magas szintű szervizközpont legyen.</a:t>
            </a:r>
          </a:p>
        </p:txBody>
      </p:sp>
    </p:spTree>
    <p:extLst>
      <p:ext uri="{BB962C8B-B14F-4D97-AF65-F5344CB8AC3E}">
        <p14:creationId xmlns:p14="http://schemas.microsoft.com/office/powerpoint/2010/main" val="40386342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08BEE7BA-5618-41D6-9802-7DE7EF8C3064}"/>
              </a:ext>
            </a:extLst>
          </p:cNvPr>
          <p:cNvSpPr>
            <a:spLocks noGrp="1"/>
          </p:cNvSpPr>
          <p:nvPr>
            <p:ph type="title"/>
          </p:nvPr>
        </p:nvSpPr>
        <p:spPr/>
        <p:txBody>
          <a:bodyPr>
            <a:noAutofit/>
          </a:bodyPr>
          <a:lstStyle/>
          <a:p>
            <a:r>
              <a:rPr lang="hu-HU" sz="4800" dirty="0">
                <a:latin typeface="Arial Black" panose="020B0A04020102020204" pitchFamily="34" charset="0"/>
              </a:rPr>
              <a:t>Fix and Drive</a:t>
            </a:r>
            <a:br>
              <a:rPr lang="hu-HU" sz="4800" dirty="0"/>
            </a:br>
            <a:r>
              <a:rPr lang="hu-HU" sz="4800" dirty="0"/>
              <a:t>(English)</a:t>
            </a:r>
          </a:p>
        </p:txBody>
      </p:sp>
      <p:sp>
        <p:nvSpPr>
          <p:cNvPr id="3" name="Tartalom helye 2">
            <a:extLst>
              <a:ext uri="{FF2B5EF4-FFF2-40B4-BE49-F238E27FC236}">
                <a16:creationId xmlns:a16="http://schemas.microsoft.com/office/drawing/2014/main" id="{7DD8C3D1-FBF9-4234-8C66-C5E0AE51EC22}"/>
              </a:ext>
            </a:extLst>
          </p:cNvPr>
          <p:cNvSpPr>
            <a:spLocks noGrp="1"/>
          </p:cNvSpPr>
          <p:nvPr>
            <p:ph idx="1"/>
          </p:nvPr>
        </p:nvSpPr>
        <p:spPr>
          <a:xfrm>
            <a:off x="913795" y="1884849"/>
            <a:ext cx="10516205" cy="4363551"/>
          </a:xfrm>
        </p:spPr>
        <p:txBody>
          <a:bodyPr>
            <a:normAutofit fontScale="92500" lnSpcReduction="20000"/>
          </a:bodyPr>
          <a:lstStyle/>
          <a:p>
            <a:pPr marL="36900" indent="0" algn="ctr">
              <a:buNone/>
            </a:pPr>
            <a:r>
              <a:rPr lang="en-US" sz="2400" b="1" i="1" dirty="0">
                <a:latin typeface="Consolas" panose="020B0609020204030204" pitchFamily="49" charset="0"/>
              </a:rPr>
              <a:t>Fix and Drive </a:t>
            </a:r>
            <a:r>
              <a:rPr lang="en-US" sz="2400" dirty="0">
                <a:latin typeface="Consolas" panose="020B0609020204030204" pitchFamily="49" charset="0"/>
              </a:rPr>
              <a:t>is a new, up-and-coming automotive company that has built its own complex service network. The system enables fast, reliable, and professional vehicle repairs. Not only is it good for simple car servicing, but it also handles smooth parts ordering and official technical inspections. The center is extremely well-equipped and operates in a modern, customer-friendly manner. Their goal is to combine traditional repair work with the latest vehicle diagnostics, while keeping all work processes transparent and reliable. Recently, many people have started using Fix and Drive's services, and many partners are building new collaborations based on them. The company's own warehouse helps reduce waiting times and ensure fast service. Fix and Drive is becoming an increasingly big name in the automotive industry, and its goal is to be a stable, high-level service center.</a:t>
            </a:r>
            <a:endParaRPr lang="hu-HU" sz="2400" dirty="0">
              <a:latin typeface="Consolas" panose="020B0609020204030204" pitchFamily="49" charset="0"/>
            </a:endParaRPr>
          </a:p>
        </p:txBody>
      </p:sp>
    </p:spTree>
    <p:extLst>
      <p:ext uri="{BB962C8B-B14F-4D97-AF65-F5344CB8AC3E}">
        <p14:creationId xmlns:p14="http://schemas.microsoft.com/office/powerpoint/2010/main" val="3479050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F31F16CB-6783-45BB-991D-50E9BDBF703C}"/>
              </a:ext>
            </a:extLst>
          </p:cNvPr>
          <p:cNvSpPr>
            <a:spLocks noGrp="1"/>
          </p:cNvSpPr>
          <p:nvPr>
            <p:ph type="ctrTitle"/>
          </p:nvPr>
        </p:nvSpPr>
        <p:spPr>
          <a:xfrm>
            <a:off x="1" y="-108722"/>
            <a:ext cx="12191999" cy="1646760"/>
          </a:xfrm>
        </p:spPr>
        <p:txBody>
          <a:bodyPr/>
          <a:lstStyle/>
          <a:p>
            <a:r>
              <a:rPr lang="hu-HU" dirty="0"/>
              <a:t>A megvalósított hálózat </a:t>
            </a:r>
            <a:r>
              <a:rPr lang="hu-HU" u="sng" dirty="0"/>
              <a:t>részei</a:t>
            </a:r>
          </a:p>
        </p:txBody>
      </p:sp>
      <p:sp>
        <p:nvSpPr>
          <p:cNvPr id="3" name="Alcím 2">
            <a:extLst>
              <a:ext uri="{FF2B5EF4-FFF2-40B4-BE49-F238E27FC236}">
                <a16:creationId xmlns:a16="http://schemas.microsoft.com/office/drawing/2014/main" id="{1B5275D5-C3B6-4F58-A3DD-D3A6E5D2355F}"/>
              </a:ext>
            </a:extLst>
          </p:cNvPr>
          <p:cNvSpPr>
            <a:spLocks noGrp="1"/>
          </p:cNvSpPr>
          <p:nvPr>
            <p:ph type="subTitle" idx="1"/>
          </p:nvPr>
        </p:nvSpPr>
        <p:spPr>
          <a:xfrm>
            <a:off x="1" y="2150531"/>
            <a:ext cx="5305928" cy="4563528"/>
          </a:xfrm>
        </p:spPr>
        <p:txBody>
          <a:bodyPr>
            <a:normAutofit fontScale="92500" lnSpcReduction="20000"/>
          </a:bodyPr>
          <a:lstStyle/>
          <a:p>
            <a:pPr algn="l"/>
            <a:r>
              <a:rPr lang="hu-HU" sz="2400" u="sng" dirty="0"/>
              <a:t>Iroda</a:t>
            </a:r>
            <a:r>
              <a:rPr lang="hu-HU" sz="2400" dirty="0"/>
              <a:t>: 	-3 dolgozói iroda asztali 					számítógépekkel ellátva.</a:t>
            </a:r>
          </a:p>
          <a:p>
            <a:pPr algn="l"/>
            <a:r>
              <a:rPr lang="hu-HU" sz="2400" dirty="0"/>
              <a:t>	    	-1 dolgozói iroda vezeték 						nélküli	kapcsolattal.</a:t>
            </a:r>
          </a:p>
          <a:p>
            <a:pPr algn="l"/>
            <a:endParaRPr lang="hu-HU" sz="2400" dirty="0"/>
          </a:p>
          <a:p>
            <a:pPr algn="l"/>
            <a:r>
              <a:rPr lang="hu-HU" sz="2400" u="sng" dirty="0"/>
              <a:t>Szerverpark</a:t>
            </a:r>
            <a:r>
              <a:rPr lang="hu-HU" sz="2400" dirty="0"/>
              <a:t>:	-Windows szerver szoba</a:t>
            </a:r>
          </a:p>
          <a:p>
            <a:pPr algn="l"/>
            <a:r>
              <a:rPr lang="hu-HU" sz="2400" dirty="0"/>
              <a:t>			    	-Linux szerver szoba</a:t>
            </a:r>
          </a:p>
          <a:p>
            <a:pPr algn="l"/>
            <a:endParaRPr lang="hu-HU" sz="2400" dirty="0"/>
          </a:p>
          <a:p>
            <a:pPr algn="l"/>
            <a:r>
              <a:rPr lang="hu-HU" sz="2400" u="sng" dirty="0"/>
              <a:t>Home</a:t>
            </a:r>
            <a:r>
              <a:rPr lang="hu-HU" sz="2400" dirty="0"/>
              <a:t>:		-Rendszergazda otthona.</a:t>
            </a:r>
          </a:p>
          <a:p>
            <a:pPr algn="l"/>
            <a:endParaRPr lang="hu-HU" dirty="0"/>
          </a:p>
          <a:p>
            <a:pPr algn="l"/>
            <a:endParaRPr lang="hu-HU" dirty="0"/>
          </a:p>
          <a:p>
            <a:pPr algn="l"/>
            <a:r>
              <a:rPr lang="hu-HU" dirty="0"/>
              <a:t>		</a:t>
            </a:r>
          </a:p>
        </p:txBody>
      </p:sp>
      <p:pic>
        <p:nvPicPr>
          <p:cNvPr id="5" name="Kép 4">
            <a:extLst>
              <a:ext uri="{FF2B5EF4-FFF2-40B4-BE49-F238E27FC236}">
                <a16:creationId xmlns:a16="http://schemas.microsoft.com/office/drawing/2014/main" id="{D001620F-9087-4489-8DED-3859F9DAC6C7}"/>
              </a:ext>
            </a:extLst>
          </p:cNvPr>
          <p:cNvPicPr>
            <a:picLocks noChangeAspect="1"/>
          </p:cNvPicPr>
          <p:nvPr/>
        </p:nvPicPr>
        <p:blipFill>
          <a:blip r:embed="rId3"/>
          <a:stretch>
            <a:fillRect/>
          </a:stretch>
        </p:blipFill>
        <p:spPr>
          <a:xfrm>
            <a:off x="5185612" y="2045368"/>
            <a:ext cx="6681536" cy="3783576"/>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524101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3" name="Alcím 2">
            <a:extLst>
              <a:ext uri="{FF2B5EF4-FFF2-40B4-BE49-F238E27FC236}">
                <a16:creationId xmlns:a16="http://schemas.microsoft.com/office/drawing/2014/main" id="{1B5275D5-C3B6-4F58-A3DD-D3A6E5D2355F}"/>
              </a:ext>
            </a:extLst>
          </p:cNvPr>
          <p:cNvSpPr>
            <a:spLocks noGrp="1"/>
          </p:cNvSpPr>
          <p:nvPr>
            <p:ph type="subTitle" idx="1"/>
          </p:nvPr>
        </p:nvSpPr>
        <p:spPr>
          <a:xfrm>
            <a:off x="0" y="2023533"/>
            <a:ext cx="12191999" cy="4766734"/>
          </a:xfrm>
        </p:spPr>
        <p:txBody>
          <a:bodyPr/>
          <a:lstStyle/>
          <a:p>
            <a:pPr marL="457200" indent="-457200" algn="l">
              <a:buFont typeface="Wingdings" panose="05000000000000000000" pitchFamily="2" charset="2"/>
              <a:buChar char="Ø"/>
            </a:pPr>
            <a:r>
              <a:rPr lang="hu-HU" sz="1800" dirty="0"/>
              <a:t>CISCO 2911 Router: 4db</a:t>
            </a:r>
          </a:p>
          <a:p>
            <a:pPr marL="457200" indent="-457200" algn="l">
              <a:buFont typeface="Wingdings" panose="05000000000000000000" pitchFamily="2" charset="2"/>
              <a:buChar char="Ø"/>
            </a:pPr>
            <a:r>
              <a:rPr lang="hu-HU" sz="1800" dirty="0"/>
              <a:t>3650-24PS Multilayer Switch: 2db</a:t>
            </a:r>
          </a:p>
          <a:p>
            <a:pPr marL="457200" indent="-457200" algn="l">
              <a:buFont typeface="Wingdings" panose="05000000000000000000" pitchFamily="2" charset="2"/>
              <a:buChar char="Ø"/>
            </a:pPr>
            <a:r>
              <a:rPr lang="hu-HU" sz="1800" dirty="0"/>
              <a:t>2960-24TT Switch: 5db</a:t>
            </a:r>
          </a:p>
          <a:p>
            <a:pPr marL="457200" indent="-457200" algn="l">
              <a:buFont typeface="Wingdings" panose="05000000000000000000" pitchFamily="2" charset="2"/>
              <a:buChar char="Ø"/>
            </a:pPr>
            <a:r>
              <a:rPr lang="hu-HU" sz="1800" dirty="0"/>
              <a:t>AccesPoint-PT: 1db</a:t>
            </a:r>
          </a:p>
          <a:p>
            <a:pPr marL="457200" indent="-457200" algn="l">
              <a:buFont typeface="Wingdings" panose="05000000000000000000" pitchFamily="2" charset="2"/>
              <a:buChar char="Ø"/>
            </a:pPr>
            <a:r>
              <a:rPr lang="hu-HU" sz="1800" dirty="0"/>
              <a:t>Server-PT: 2db</a:t>
            </a:r>
          </a:p>
          <a:p>
            <a:pPr marL="457200" indent="-457200" algn="l">
              <a:buFont typeface="Wingdings" panose="05000000000000000000" pitchFamily="2" charset="2"/>
              <a:buChar char="Ø"/>
            </a:pPr>
            <a:r>
              <a:rPr lang="hu-HU" sz="1800" dirty="0"/>
              <a:t>WRT-300N: 1db</a:t>
            </a:r>
          </a:p>
          <a:p>
            <a:pPr marL="457200" indent="-457200" algn="l">
              <a:buFont typeface="Wingdings" panose="05000000000000000000" pitchFamily="2" charset="2"/>
              <a:buChar char="Ø"/>
            </a:pPr>
            <a:r>
              <a:rPr lang="hu-HU" sz="1800" dirty="0"/>
              <a:t>Printer-PT: 1db</a:t>
            </a:r>
          </a:p>
          <a:p>
            <a:pPr marL="457200" indent="-457200" algn="l">
              <a:buFont typeface="Wingdings" panose="05000000000000000000" pitchFamily="2" charset="2"/>
              <a:buChar char="Ø"/>
            </a:pPr>
            <a:r>
              <a:rPr lang="hu-HU" sz="1800" dirty="0"/>
              <a:t>PC: 11db</a:t>
            </a:r>
          </a:p>
          <a:p>
            <a:pPr marL="457200" indent="-457200" algn="l">
              <a:buFont typeface="Wingdings" panose="05000000000000000000" pitchFamily="2" charset="2"/>
              <a:buChar char="Ø"/>
            </a:pPr>
            <a:r>
              <a:rPr lang="hu-HU" sz="1800" dirty="0"/>
              <a:t>Laptop: 1db</a:t>
            </a:r>
          </a:p>
          <a:p>
            <a:pPr marL="457200" indent="-457200" algn="l">
              <a:buFont typeface="Wingdings" panose="05000000000000000000" pitchFamily="2" charset="2"/>
              <a:buChar char="Ø"/>
            </a:pPr>
            <a:r>
              <a:rPr lang="hu-HU" sz="1800" dirty="0"/>
              <a:t>Tablet: 1db</a:t>
            </a:r>
          </a:p>
          <a:p>
            <a:pPr marL="457200" indent="-457200" algn="l">
              <a:buFont typeface="Wingdings" panose="05000000000000000000" pitchFamily="2" charset="2"/>
              <a:buChar char="Ø"/>
            </a:pPr>
            <a:r>
              <a:rPr lang="hu-HU" sz="1800" dirty="0"/>
              <a:t>Okostelefon: 1db</a:t>
            </a:r>
          </a:p>
          <a:p>
            <a:pPr algn="l"/>
            <a:endParaRPr lang="hu-HU" dirty="0"/>
          </a:p>
        </p:txBody>
      </p:sp>
      <p:sp>
        <p:nvSpPr>
          <p:cNvPr id="4" name="Cím 1">
            <a:extLst>
              <a:ext uri="{FF2B5EF4-FFF2-40B4-BE49-F238E27FC236}">
                <a16:creationId xmlns:a16="http://schemas.microsoft.com/office/drawing/2014/main" id="{970EC17C-B06C-4B58-BEDD-4DD0409F1E49}"/>
              </a:ext>
            </a:extLst>
          </p:cNvPr>
          <p:cNvSpPr txBox="1">
            <a:spLocks/>
          </p:cNvSpPr>
          <p:nvPr/>
        </p:nvSpPr>
        <p:spPr>
          <a:xfrm>
            <a:off x="0" y="143941"/>
            <a:ext cx="12191999" cy="1646760"/>
          </a:xfrm>
          <a:prstGeom prst="rect">
            <a:avLst/>
          </a:prstGeom>
          <a:effectLst>
            <a:outerShdw blurRad="25400" dir="17880000">
              <a:srgbClr val="000000">
                <a:alpha val="46000"/>
              </a:srgbClr>
            </a:outerShdw>
          </a:effectLst>
        </p:spPr>
        <p:txBody>
          <a:bodyPr vert="horz" lIns="91440" tIns="45720" rIns="91440" bIns="45720" rtlCol="0" anchor="b">
            <a:normAutofit/>
          </a:bodyPr>
          <a:lstStyle>
            <a:lvl1pPr algn="ctr" defTabSz="457200" rtl="0" eaLnBrk="1" latinLnBrk="0" hangingPunct="1">
              <a:spcBef>
                <a:spcPct val="0"/>
              </a:spcBef>
              <a:buNone/>
              <a:defRPr sz="5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hu-HU" dirty="0"/>
              <a:t>A hálózatban használt </a:t>
            </a:r>
            <a:r>
              <a:rPr lang="hu-HU" u="sng" dirty="0"/>
              <a:t>eszközök</a:t>
            </a:r>
          </a:p>
        </p:txBody>
      </p:sp>
      <p:pic>
        <p:nvPicPr>
          <p:cNvPr id="9" name="Kép 8">
            <a:extLst>
              <a:ext uri="{FF2B5EF4-FFF2-40B4-BE49-F238E27FC236}">
                <a16:creationId xmlns:a16="http://schemas.microsoft.com/office/drawing/2014/main" id="{46A55B1D-A2C1-4621-8325-30B677DCE418}"/>
              </a:ext>
            </a:extLst>
          </p:cNvPr>
          <p:cNvPicPr>
            <a:picLocks noChangeAspect="1"/>
          </p:cNvPicPr>
          <p:nvPr/>
        </p:nvPicPr>
        <p:blipFill>
          <a:blip r:embed="rId3"/>
          <a:stretch>
            <a:fillRect/>
          </a:stretch>
        </p:blipFill>
        <p:spPr>
          <a:xfrm>
            <a:off x="3963104" y="2195384"/>
            <a:ext cx="8228896" cy="4423032"/>
          </a:xfrm>
          <a:prstGeom prst="rect">
            <a:avLst/>
          </a:prstGeom>
          <a:ln>
            <a:noFill/>
          </a:ln>
          <a:effectLst>
            <a:softEdge rad="112500"/>
          </a:effectLst>
        </p:spPr>
      </p:pic>
    </p:spTree>
    <p:extLst>
      <p:ext uri="{BB962C8B-B14F-4D97-AF65-F5344CB8AC3E}">
        <p14:creationId xmlns:p14="http://schemas.microsoft.com/office/powerpoint/2010/main" val="2192709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3" name="Alcím 2">
            <a:extLst>
              <a:ext uri="{FF2B5EF4-FFF2-40B4-BE49-F238E27FC236}">
                <a16:creationId xmlns:a16="http://schemas.microsoft.com/office/drawing/2014/main" id="{1B5275D5-C3B6-4F58-A3DD-D3A6E5D2355F}"/>
              </a:ext>
            </a:extLst>
          </p:cNvPr>
          <p:cNvSpPr>
            <a:spLocks noGrp="1"/>
          </p:cNvSpPr>
          <p:nvPr>
            <p:ph type="subTitle" idx="1"/>
          </p:nvPr>
        </p:nvSpPr>
        <p:spPr>
          <a:xfrm>
            <a:off x="59268" y="1372913"/>
            <a:ext cx="6527800" cy="4763191"/>
          </a:xfrm>
        </p:spPr>
        <p:txBody>
          <a:bodyPr>
            <a:normAutofit fontScale="85000" lnSpcReduction="20000"/>
          </a:bodyPr>
          <a:lstStyle/>
          <a:p>
            <a:pPr algn="l"/>
            <a:r>
              <a:rPr lang="hu-HU" sz="2600" u="sng" dirty="0"/>
              <a:t>Alkalmazott technológiák:</a:t>
            </a:r>
          </a:p>
          <a:p>
            <a:pPr marL="342900" indent="-342900" algn="l">
              <a:buFont typeface="Wingdings" panose="05000000000000000000" pitchFamily="2" charset="2"/>
              <a:buChar char="Ø"/>
            </a:pPr>
            <a:r>
              <a:rPr lang="hu-HU" dirty="0"/>
              <a:t>VLAN-ok</a:t>
            </a:r>
          </a:p>
          <a:p>
            <a:pPr marL="342900" indent="-342900" algn="l">
              <a:buFont typeface="Wingdings" panose="05000000000000000000" pitchFamily="2" charset="2"/>
              <a:buChar char="Ø"/>
            </a:pPr>
            <a:r>
              <a:rPr lang="hu-HU" dirty="0"/>
              <a:t>DHCP/SLAAC</a:t>
            </a:r>
          </a:p>
          <a:p>
            <a:pPr marL="342900" indent="-342900" algn="l">
              <a:buFont typeface="Wingdings" panose="05000000000000000000" pitchFamily="2" charset="2"/>
              <a:buChar char="Ø"/>
            </a:pPr>
            <a:r>
              <a:rPr lang="hu-HU" dirty="0" err="1"/>
              <a:t>Ether</a:t>
            </a:r>
            <a:r>
              <a:rPr lang="hu-HU" dirty="0"/>
              <a:t> Channel (LACP)</a:t>
            </a:r>
          </a:p>
          <a:p>
            <a:pPr marL="342900" indent="-342900" algn="l">
              <a:buFont typeface="Wingdings" panose="05000000000000000000" pitchFamily="2" charset="2"/>
              <a:buChar char="Ø"/>
            </a:pPr>
            <a:r>
              <a:rPr lang="hu-HU" dirty="0"/>
              <a:t>HSRP </a:t>
            </a:r>
          </a:p>
          <a:p>
            <a:pPr marL="342900" indent="-342900" algn="l">
              <a:buFont typeface="Wingdings" panose="05000000000000000000" pitchFamily="2" charset="2"/>
              <a:buChar char="Ø"/>
            </a:pPr>
            <a:r>
              <a:rPr lang="hu-HU" dirty="0"/>
              <a:t>VPN (GRE tunnel)</a:t>
            </a:r>
          </a:p>
          <a:p>
            <a:pPr marL="342900" indent="-342900" algn="l">
              <a:buFont typeface="Wingdings" panose="05000000000000000000" pitchFamily="2" charset="2"/>
              <a:buChar char="Ø"/>
            </a:pPr>
            <a:r>
              <a:rPr lang="hu-HU" dirty="0"/>
              <a:t>IPV4 és IPV6-os címek</a:t>
            </a:r>
          </a:p>
          <a:p>
            <a:pPr marL="342900" indent="-342900" algn="l">
              <a:buFont typeface="Wingdings" panose="05000000000000000000" pitchFamily="2" charset="2"/>
              <a:buChar char="Ø"/>
            </a:pPr>
            <a:r>
              <a:rPr lang="hu-HU" dirty="0"/>
              <a:t>OSPF/STATIKUS forgalomirányítás (ipv4/ipv6)</a:t>
            </a:r>
          </a:p>
          <a:p>
            <a:pPr marL="342900" indent="-342900" algn="l">
              <a:buFont typeface="Wingdings" panose="05000000000000000000" pitchFamily="2" charset="2"/>
              <a:buChar char="Ø"/>
            </a:pPr>
            <a:r>
              <a:rPr lang="hu-HU" dirty="0"/>
              <a:t>Wireless Connection (AccesPoint)</a:t>
            </a:r>
          </a:p>
          <a:p>
            <a:pPr marL="342900" indent="-342900" algn="l">
              <a:buFont typeface="Wingdings" panose="05000000000000000000" pitchFamily="2" charset="2"/>
              <a:buChar char="Ø"/>
            </a:pPr>
            <a:r>
              <a:rPr lang="hu-HU"/>
              <a:t>WPA2-PSK </a:t>
            </a:r>
            <a:r>
              <a:rPr lang="hu-HU" dirty="0"/>
              <a:t>Authentication</a:t>
            </a:r>
          </a:p>
          <a:p>
            <a:pPr marL="342900" indent="-342900" algn="l">
              <a:buFont typeface="Wingdings" panose="05000000000000000000" pitchFamily="2" charset="2"/>
              <a:buChar char="Ø"/>
            </a:pPr>
            <a:r>
              <a:rPr lang="hu-HU" dirty="0"/>
              <a:t>SSH távoli elérés</a:t>
            </a:r>
          </a:p>
          <a:p>
            <a:pPr marL="342900" indent="-342900" algn="l">
              <a:buFont typeface="Wingdings" panose="05000000000000000000" pitchFamily="2" charset="2"/>
              <a:buChar char="Ø"/>
            </a:pPr>
            <a:r>
              <a:rPr lang="hu-HU" dirty="0"/>
              <a:t>WAN kapcsolat</a:t>
            </a:r>
          </a:p>
          <a:p>
            <a:pPr marL="342900" indent="-342900" algn="l">
              <a:buFont typeface="Wingdings" panose="05000000000000000000" pitchFamily="2" charset="2"/>
              <a:buChar char="Ø"/>
            </a:pPr>
            <a:r>
              <a:rPr lang="hu-HU" dirty="0"/>
              <a:t>Redundás kialakítás.</a:t>
            </a:r>
          </a:p>
          <a:p>
            <a:pPr marL="342900" indent="-342900" algn="l">
              <a:buFont typeface="Wingdings" panose="05000000000000000000" pitchFamily="2" charset="2"/>
              <a:buChar char="Ø"/>
            </a:pPr>
            <a:endParaRPr lang="hu-HU" dirty="0"/>
          </a:p>
        </p:txBody>
      </p:sp>
      <p:sp>
        <p:nvSpPr>
          <p:cNvPr id="6" name="Cím 1">
            <a:extLst>
              <a:ext uri="{FF2B5EF4-FFF2-40B4-BE49-F238E27FC236}">
                <a16:creationId xmlns:a16="http://schemas.microsoft.com/office/drawing/2014/main" id="{A248FAC0-D5EA-4EB4-B64D-F31CA5EB51B4}"/>
              </a:ext>
            </a:extLst>
          </p:cNvPr>
          <p:cNvSpPr txBox="1">
            <a:spLocks/>
          </p:cNvSpPr>
          <p:nvPr/>
        </p:nvSpPr>
        <p:spPr>
          <a:xfrm>
            <a:off x="59268" y="-581274"/>
            <a:ext cx="12191999" cy="1646760"/>
          </a:xfrm>
          <a:prstGeom prst="rect">
            <a:avLst/>
          </a:prstGeom>
          <a:effectLst>
            <a:outerShdw blurRad="25400" dir="17880000">
              <a:srgbClr val="000000">
                <a:alpha val="46000"/>
              </a:srgbClr>
            </a:outerShdw>
          </a:effectLst>
        </p:spPr>
        <p:txBody>
          <a:bodyPr vert="horz" lIns="91440" tIns="45720" rIns="91440" bIns="45720" rtlCol="0" anchor="b">
            <a:normAutofit/>
          </a:bodyPr>
          <a:lstStyle>
            <a:lvl1pPr algn="ctr" defTabSz="457200" rtl="0" eaLnBrk="1" latinLnBrk="0" hangingPunct="1">
              <a:spcBef>
                <a:spcPct val="0"/>
              </a:spcBef>
              <a:buNone/>
              <a:defRPr sz="5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hu-HU" i="1" dirty="0">
                <a:latin typeface="Bahnschrift Light Condensed" panose="020B0502040204020203" pitchFamily="34" charset="0"/>
              </a:rPr>
              <a:t>Iroda</a:t>
            </a:r>
          </a:p>
        </p:txBody>
      </p:sp>
      <p:pic>
        <p:nvPicPr>
          <p:cNvPr id="8" name="Kép 7">
            <a:extLst>
              <a:ext uri="{FF2B5EF4-FFF2-40B4-BE49-F238E27FC236}">
                <a16:creationId xmlns:a16="http://schemas.microsoft.com/office/drawing/2014/main" id="{9446C34F-DB8E-4FC2-9155-AEE2B6DB3579}"/>
              </a:ext>
            </a:extLst>
          </p:cNvPr>
          <p:cNvPicPr>
            <a:picLocks noChangeAspect="1"/>
          </p:cNvPicPr>
          <p:nvPr/>
        </p:nvPicPr>
        <p:blipFill>
          <a:blip r:embed="rId3"/>
          <a:stretch>
            <a:fillRect/>
          </a:stretch>
        </p:blipFill>
        <p:spPr>
          <a:xfrm>
            <a:off x="4965700" y="1654253"/>
            <a:ext cx="7226300" cy="5035305"/>
          </a:xfrm>
          <a:prstGeom prst="rect">
            <a:avLst/>
          </a:prstGeom>
          <a:ln>
            <a:noFill/>
          </a:ln>
          <a:effectLst>
            <a:softEdge rad="112500"/>
          </a:effectLst>
        </p:spPr>
      </p:pic>
    </p:spTree>
    <p:extLst>
      <p:ext uri="{BB962C8B-B14F-4D97-AF65-F5344CB8AC3E}">
        <p14:creationId xmlns:p14="http://schemas.microsoft.com/office/powerpoint/2010/main" val="3687858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3" name="Alcím 2">
            <a:extLst>
              <a:ext uri="{FF2B5EF4-FFF2-40B4-BE49-F238E27FC236}">
                <a16:creationId xmlns:a16="http://schemas.microsoft.com/office/drawing/2014/main" id="{1B5275D5-C3B6-4F58-A3DD-D3A6E5D2355F}"/>
              </a:ext>
            </a:extLst>
          </p:cNvPr>
          <p:cNvSpPr>
            <a:spLocks noGrp="1"/>
          </p:cNvSpPr>
          <p:nvPr>
            <p:ph type="subTitle" idx="1"/>
          </p:nvPr>
        </p:nvSpPr>
        <p:spPr>
          <a:xfrm>
            <a:off x="0" y="1630947"/>
            <a:ext cx="6760244" cy="4902200"/>
          </a:xfrm>
        </p:spPr>
        <p:txBody>
          <a:bodyPr/>
          <a:lstStyle/>
          <a:p>
            <a:pPr algn="l"/>
            <a:r>
              <a:rPr lang="hu-HU" dirty="0"/>
              <a:t>Alkalmazott technológiák:</a:t>
            </a:r>
          </a:p>
          <a:p>
            <a:pPr marL="342900" indent="-342900" algn="l">
              <a:buFont typeface="Wingdings" panose="05000000000000000000" pitchFamily="2" charset="2"/>
              <a:buChar char="Ø"/>
            </a:pPr>
            <a:r>
              <a:rPr lang="hu-HU" dirty="0"/>
              <a:t>VLAN-ok</a:t>
            </a:r>
          </a:p>
          <a:p>
            <a:pPr marL="342900" indent="-342900" algn="l">
              <a:buFont typeface="Wingdings" panose="05000000000000000000" pitchFamily="2" charset="2"/>
              <a:buChar char="Ø"/>
            </a:pPr>
            <a:r>
              <a:rPr lang="hu-HU" dirty="0"/>
              <a:t>DHCP (szerverekről)</a:t>
            </a:r>
          </a:p>
          <a:p>
            <a:pPr marL="342900" indent="-342900" algn="l">
              <a:buFont typeface="Wingdings" panose="05000000000000000000" pitchFamily="2" charset="2"/>
              <a:buChar char="Ø"/>
            </a:pPr>
            <a:r>
              <a:rPr lang="hu-HU" dirty="0"/>
              <a:t>Címfoglalás (Printer MAC és ip címe)</a:t>
            </a:r>
          </a:p>
          <a:p>
            <a:pPr marL="342900" indent="-342900" algn="l">
              <a:buFont typeface="Wingdings" panose="05000000000000000000" pitchFamily="2" charset="2"/>
              <a:buChar char="Ø"/>
            </a:pPr>
            <a:r>
              <a:rPr lang="hu-HU" dirty="0"/>
              <a:t>OSPF/STATIKUS forgalomirányítás</a:t>
            </a:r>
          </a:p>
          <a:p>
            <a:pPr marL="342900" indent="-342900" algn="l">
              <a:buFont typeface="Wingdings" panose="05000000000000000000" pitchFamily="2" charset="2"/>
              <a:buChar char="Ø"/>
            </a:pPr>
            <a:r>
              <a:rPr lang="hu-HU" dirty="0"/>
              <a:t>NAT címfordítás</a:t>
            </a:r>
          </a:p>
          <a:p>
            <a:pPr marL="342900" indent="-342900" algn="l">
              <a:buFont typeface="Wingdings" panose="05000000000000000000" pitchFamily="2" charset="2"/>
              <a:buChar char="Ø"/>
            </a:pPr>
            <a:r>
              <a:rPr lang="hu-HU" dirty="0"/>
              <a:t>SSH távoli elérés</a:t>
            </a:r>
          </a:p>
          <a:p>
            <a:pPr marL="342900" indent="-342900" algn="l">
              <a:buFont typeface="Wingdings" panose="05000000000000000000" pitchFamily="2" charset="2"/>
              <a:buChar char="Ø"/>
            </a:pPr>
            <a:r>
              <a:rPr lang="hu-HU" dirty="0"/>
              <a:t>Interface Security Levels </a:t>
            </a:r>
          </a:p>
          <a:p>
            <a:pPr algn="l"/>
            <a:r>
              <a:rPr lang="hu-HU" dirty="0"/>
              <a:t>int g1/1 nameif OUTSIDE security-level 0 (router fele)</a:t>
            </a:r>
          </a:p>
          <a:p>
            <a:pPr algn="l"/>
            <a:r>
              <a:rPr lang="hu-HU" dirty="0"/>
              <a:t>int g1/2 nameif SERVERPARK security-level 50 (linux fele)</a:t>
            </a:r>
          </a:p>
          <a:p>
            <a:pPr algn="l"/>
            <a:r>
              <a:rPr lang="hu-HU" dirty="0"/>
              <a:t>int g1/3 nameif INSIDE security-level 100 (windows fele)</a:t>
            </a:r>
          </a:p>
          <a:p>
            <a:pPr algn="l"/>
            <a:endParaRPr lang="hu-HU" dirty="0"/>
          </a:p>
        </p:txBody>
      </p:sp>
      <p:pic>
        <p:nvPicPr>
          <p:cNvPr id="5" name="Kép 4">
            <a:extLst>
              <a:ext uri="{FF2B5EF4-FFF2-40B4-BE49-F238E27FC236}">
                <a16:creationId xmlns:a16="http://schemas.microsoft.com/office/drawing/2014/main" id="{1A387F0F-5060-44A7-B958-A3FB778722D9}"/>
              </a:ext>
            </a:extLst>
          </p:cNvPr>
          <p:cNvPicPr>
            <a:picLocks noChangeAspect="1"/>
          </p:cNvPicPr>
          <p:nvPr/>
        </p:nvPicPr>
        <p:blipFill>
          <a:blip r:embed="rId3"/>
          <a:stretch>
            <a:fillRect/>
          </a:stretch>
        </p:blipFill>
        <p:spPr>
          <a:xfrm>
            <a:off x="6576696" y="2546350"/>
            <a:ext cx="5615303" cy="3721100"/>
          </a:xfrm>
          <a:prstGeom prst="rect">
            <a:avLst/>
          </a:prstGeom>
          <a:ln>
            <a:noFill/>
          </a:ln>
          <a:effectLst>
            <a:softEdge rad="112500"/>
          </a:effectLst>
        </p:spPr>
      </p:pic>
      <p:sp>
        <p:nvSpPr>
          <p:cNvPr id="6" name="Cím 1">
            <a:extLst>
              <a:ext uri="{FF2B5EF4-FFF2-40B4-BE49-F238E27FC236}">
                <a16:creationId xmlns:a16="http://schemas.microsoft.com/office/drawing/2014/main" id="{78964740-2CF2-4284-A2AD-5706360A98CE}"/>
              </a:ext>
            </a:extLst>
          </p:cNvPr>
          <p:cNvSpPr txBox="1">
            <a:spLocks/>
          </p:cNvSpPr>
          <p:nvPr/>
        </p:nvSpPr>
        <p:spPr>
          <a:xfrm>
            <a:off x="0" y="143941"/>
            <a:ext cx="12191999" cy="1646760"/>
          </a:xfrm>
          <a:prstGeom prst="rect">
            <a:avLst/>
          </a:prstGeom>
          <a:effectLst>
            <a:outerShdw blurRad="25400" dir="17880000">
              <a:srgbClr val="000000">
                <a:alpha val="46000"/>
              </a:srgbClr>
            </a:outerShdw>
          </a:effectLst>
        </p:spPr>
        <p:txBody>
          <a:bodyPr vert="horz" lIns="91440" tIns="45720" rIns="91440" bIns="45720" rtlCol="0" anchor="b">
            <a:normAutofit/>
          </a:bodyPr>
          <a:lstStyle>
            <a:lvl1pPr algn="ctr" defTabSz="457200" rtl="0" eaLnBrk="1" latinLnBrk="0" hangingPunct="1">
              <a:spcBef>
                <a:spcPct val="0"/>
              </a:spcBef>
              <a:buNone/>
              <a:defRPr sz="5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hu-HU" dirty="0">
                <a:latin typeface="Bahnschrift Light Condensed" panose="020B0502040204020203" pitchFamily="34" charset="0"/>
              </a:rPr>
              <a:t>Szerverpark</a:t>
            </a:r>
          </a:p>
        </p:txBody>
      </p:sp>
    </p:spTree>
    <p:extLst>
      <p:ext uri="{BB962C8B-B14F-4D97-AF65-F5344CB8AC3E}">
        <p14:creationId xmlns:p14="http://schemas.microsoft.com/office/powerpoint/2010/main" val="23986445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3" name="Alcím 2">
            <a:extLst>
              <a:ext uri="{FF2B5EF4-FFF2-40B4-BE49-F238E27FC236}">
                <a16:creationId xmlns:a16="http://schemas.microsoft.com/office/drawing/2014/main" id="{1B5275D5-C3B6-4F58-A3DD-D3A6E5D2355F}"/>
              </a:ext>
            </a:extLst>
          </p:cNvPr>
          <p:cNvSpPr>
            <a:spLocks noGrp="1"/>
          </p:cNvSpPr>
          <p:nvPr>
            <p:ph type="subTitle" idx="1"/>
          </p:nvPr>
        </p:nvSpPr>
        <p:spPr>
          <a:xfrm>
            <a:off x="0" y="1790700"/>
            <a:ext cx="6011277" cy="5067299"/>
          </a:xfrm>
        </p:spPr>
        <p:txBody>
          <a:bodyPr/>
          <a:lstStyle/>
          <a:p>
            <a:pPr algn="l"/>
            <a:r>
              <a:rPr lang="hu-HU" u="sng" dirty="0"/>
              <a:t>Alkalmazott technológiák:</a:t>
            </a:r>
          </a:p>
          <a:p>
            <a:pPr marL="342900" indent="-342900" algn="l">
              <a:buFont typeface="Wingdings" panose="05000000000000000000" pitchFamily="2" charset="2"/>
              <a:buChar char="Ø"/>
            </a:pPr>
            <a:r>
              <a:rPr lang="hu-HU" dirty="0"/>
              <a:t>OSPF/STATIKUS forgalomirányítás</a:t>
            </a:r>
          </a:p>
          <a:p>
            <a:pPr marL="342900" indent="-342900" algn="l">
              <a:buFont typeface="Wingdings" panose="05000000000000000000" pitchFamily="2" charset="2"/>
              <a:buChar char="Ø"/>
            </a:pPr>
            <a:r>
              <a:rPr lang="hu-HU" dirty="0"/>
              <a:t>VPN (GRE tunnel)</a:t>
            </a:r>
          </a:p>
          <a:p>
            <a:pPr marL="342900" indent="-342900" algn="l">
              <a:buFont typeface="Wingdings" panose="05000000000000000000" pitchFamily="2" charset="2"/>
              <a:buChar char="Ø"/>
            </a:pPr>
            <a:r>
              <a:rPr lang="hu-HU" dirty="0"/>
              <a:t>Vezetéknélküli kapcsolat</a:t>
            </a:r>
          </a:p>
          <a:p>
            <a:pPr marL="342900" indent="-342900" algn="l">
              <a:buFont typeface="Wingdings" panose="05000000000000000000" pitchFamily="2" charset="2"/>
              <a:buChar char="Ø"/>
            </a:pPr>
            <a:r>
              <a:rPr lang="hu-HU" dirty="0"/>
              <a:t>WPA-PSK2 Authentication</a:t>
            </a:r>
          </a:p>
          <a:p>
            <a:pPr marL="342900" indent="-342900" algn="l">
              <a:buFont typeface="Wingdings" panose="05000000000000000000" pitchFamily="2" charset="2"/>
              <a:buChar char="Ø"/>
            </a:pPr>
            <a:r>
              <a:rPr lang="hu-HU" dirty="0"/>
              <a:t>Statikus címek (SOHO+PC-HOME)</a:t>
            </a:r>
          </a:p>
          <a:p>
            <a:pPr marL="342900" indent="-342900" algn="l">
              <a:buFont typeface="Wingdings" panose="05000000000000000000" pitchFamily="2" charset="2"/>
              <a:buChar char="Ø"/>
            </a:pPr>
            <a:r>
              <a:rPr lang="hu-HU" dirty="0"/>
              <a:t>SSH távoli elérés</a:t>
            </a:r>
          </a:p>
          <a:p>
            <a:pPr marL="342900" indent="-342900" algn="l">
              <a:buFont typeface="Wingdings" panose="05000000000000000000" pitchFamily="2" charset="2"/>
              <a:buChar char="Ø"/>
            </a:pPr>
            <a:r>
              <a:rPr lang="hu-HU" dirty="0"/>
              <a:t>NAT címfordítás</a:t>
            </a:r>
          </a:p>
          <a:p>
            <a:pPr marL="342900" indent="-342900" algn="l">
              <a:buFont typeface="Wingdings" panose="05000000000000000000" pitchFamily="2" charset="2"/>
              <a:buChar char="Ø"/>
            </a:pPr>
            <a:endParaRPr lang="hu-HU" dirty="0"/>
          </a:p>
          <a:p>
            <a:pPr algn="l"/>
            <a:endParaRPr lang="hu-HU" dirty="0"/>
          </a:p>
          <a:p>
            <a:endParaRPr lang="hu-HU" dirty="0"/>
          </a:p>
        </p:txBody>
      </p:sp>
      <p:sp>
        <p:nvSpPr>
          <p:cNvPr id="7" name="Cím 1">
            <a:extLst>
              <a:ext uri="{FF2B5EF4-FFF2-40B4-BE49-F238E27FC236}">
                <a16:creationId xmlns:a16="http://schemas.microsoft.com/office/drawing/2014/main" id="{3560E997-1C7E-4160-AB70-9731FD406494}"/>
              </a:ext>
            </a:extLst>
          </p:cNvPr>
          <p:cNvSpPr txBox="1">
            <a:spLocks/>
          </p:cNvSpPr>
          <p:nvPr/>
        </p:nvSpPr>
        <p:spPr>
          <a:xfrm>
            <a:off x="0" y="0"/>
            <a:ext cx="12191999" cy="1646760"/>
          </a:xfrm>
          <a:prstGeom prst="rect">
            <a:avLst/>
          </a:prstGeom>
          <a:effectLst>
            <a:outerShdw blurRad="25400" dir="17880000">
              <a:srgbClr val="000000">
                <a:alpha val="46000"/>
              </a:srgbClr>
            </a:outerShdw>
          </a:effectLst>
        </p:spPr>
        <p:txBody>
          <a:bodyPr vert="horz" lIns="91440" tIns="45720" rIns="91440" bIns="45720" rtlCol="0" anchor="b">
            <a:normAutofit/>
          </a:bodyPr>
          <a:lstStyle>
            <a:lvl1pPr algn="ctr" defTabSz="457200" rtl="0" eaLnBrk="1" latinLnBrk="0" hangingPunct="1">
              <a:spcBef>
                <a:spcPct val="0"/>
              </a:spcBef>
              <a:buNone/>
              <a:defRPr sz="5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hu-HU" sz="6000" dirty="0">
                <a:latin typeface="Bahnschrift Light Condensed" panose="020B0502040204020203" pitchFamily="34" charset="0"/>
              </a:rPr>
              <a:t>Home</a:t>
            </a:r>
          </a:p>
        </p:txBody>
      </p:sp>
      <p:pic>
        <p:nvPicPr>
          <p:cNvPr id="9" name="Kép 8">
            <a:extLst>
              <a:ext uri="{FF2B5EF4-FFF2-40B4-BE49-F238E27FC236}">
                <a16:creationId xmlns:a16="http://schemas.microsoft.com/office/drawing/2014/main" id="{94B28157-8D6E-44DB-B6BD-2443EBD7E65E}"/>
              </a:ext>
            </a:extLst>
          </p:cNvPr>
          <p:cNvPicPr>
            <a:picLocks noChangeAspect="1"/>
          </p:cNvPicPr>
          <p:nvPr/>
        </p:nvPicPr>
        <p:blipFill>
          <a:blip r:embed="rId3"/>
          <a:stretch>
            <a:fillRect/>
          </a:stretch>
        </p:blipFill>
        <p:spPr>
          <a:xfrm>
            <a:off x="5915025" y="2990850"/>
            <a:ext cx="6180722" cy="2578100"/>
          </a:xfrm>
          <a:prstGeom prst="rect">
            <a:avLst/>
          </a:prstGeom>
          <a:ln>
            <a:noFill/>
          </a:ln>
          <a:effectLst>
            <a:softEdge rad="112500"/>
          </a:effectLst>
        </p:spPr>
      </p:pic>
    </p:spTree>
    <p:extLst>
      <p:ext uri="{BB962C8B-B14F-4D97-AF65-F5344CB8AC3E}">
        <p14:creationId xmlns:p14="http://schemas.microsoft.com/office/powerpoint/2010/main" val="2328379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3" name="Alcím 2">
            <a:extLst>
              <a:ext uri="{FF2B5EF4-FFF2-40B4-BE49-F238E27FC236}">
                <a16:creationId xmlns:a16="http://schemas.microsoft.com/office/drawing/2014/main" id="{1B5275D5-C3B6-4F58-A3DD-D3A6E5D2355F}"/>
              </a:ext>
            </a:extLst>
          </p:cNvPr>
          <p:cNvSpPr>
            <a:spLocks noGrp="1"/>
          </p:cNvSpPr>
          <p:nvPr>
            <p:ph type="subTitle" idx="1"/>
          </p:nvPr>
        </p:nvSpPr>
        <p:spPr>
          <a:xfrm>
            <a:off x="72583" y="1381627"/>
            <a:ext cx="3607103" cy="4842926"/>
          </a:xfrm>
        </p:spPr>
        <p:txBody>
          <a:bodyPr>
            <a:normAutofit fontScale="85000" lnSpcReduction="10000"/>
          </a:bodyPr>
          <a:lstStyle/>
          <a:p>
            <a:r>
              <a:rPr lang="hu-HU" dirty="0"/>
              <a:t>hostname NÉV</a:t>
            </a:r>
          </a:p>
          <a:p>
            <a:r>
              <a:rPr lang="hu-HU" dirty="0"/>
              <a:t>ip domain-name fixandrive.org</a:t>
            </a:r>
          </a:p>
          <a:p>
            <a:r>
              <a:rPr lang="hu-HU" dirty="0"/>
              <a:t>crypto key generate rsa general-keys modulus 2048</a:t>
            </a:r>
          </a:p>
          <a:p>
            <a:r>
              <a:rPr lang="hu-HU" dirty="0"/>
              <a:t>ip ssh version 2</a:t>
            </a:r>
          </a:p>
          <a:p>
            <a:r>
              <a:rPr lang="hu-HU" dirty="0"/>
              <a:t>username admin secret admin123</a:t>
            </a:r>
          </a:p>
          <a:p>
            <a:r>
              <a:rPr lang="hu-HU" dirty="0"/>
              <a:t>access-list 1 permit 192.168.0.1 0.0.0.255</a:t>
            </a:r>
          </a:p>
          <a:p>
            <a:r>
              <a:rPr lang="hu-HU" dirty="0"/>
              <a:t>access-list 1 deny any</a:t>
            </a:r>
          </a:p>
          <a:p>
            <a:r>
              <a:rPr lang="hu-HU" dirty="0"/>
              <a:t>line </a:t>
            </a:r>
            <a:r>
              <a:rPr lang="hu-HU" dirty="0" err="1"/>
              <a:t>vty</a:t>
            </a:r>
            <a:r>
              <a:rPr lang="hu-HU" dirty="0"/>
              <a:t> 0 15</a:t>
            </a:r>
          </a:p>
          <a:p>
            <a:r>
              <a:rPr lang="hu-HU" dirty="0"/>
              <a:t>login local</a:t>
            </a:r>
          </a:p>
          <a:p>
            <a:r>
              <a:rPr lang="hu-HU" dirty="0"/>
              <a:t>transport input ssh</a:t>
            </a:r>
          </a:p>
          <a:p>
            <a:r>
              <a:rPr lang="hu-HU" dirty="0"/>
              <a:t>access-class 1 in</a:t>
            </a:r>
          </a:p>
          <a:p>
            <a:r>
              <a:rPr lang="hu-HU" dirty="0"/>
              <a:t>exit</a:t>
            </a:r>
          </a:p>
        </p:txBody>
      </p:sp>
      <p:sp>
        <p:nvSpPr>
          <p:cNvPr id="4" name="Cím 1">
            <a:extLst>
              <a:ext uri="{FF2B5EF4-FFF2-40B4-BE49-F238E27FC236}">
                <a16:creationId xmlns:a16="http://schemas.microsoft.com/office/drawing/2014/main" id="{42B44A45-D49F-4A9E-A963-CB8CB9337339}"/>
              </a:ext>
            </a:extLst>
          </p:cNvPr>
          <p:cNvSpPr txBox="1">
            <a:spLocks/>
          </p:cNvSpPr>
          <p:nvPr/>
        </p:nvSpPr>
        <p:spPr>
          <a:xfrm>
            <a:off x="0" y="-281167"/>
            <a:ext cx="12191999" cy="1646760"/>
          </a:xfrm>
          <a:prstGeom prst="rect">
            <a:avLst/>
          </a:prstGeom>
          <a:effectLst>
            <a:outerShdw blurRad="25400" dir="17880000">
              <a:srgbClr val="000000">
                <a:alpha val="46000"/>
              </a:srgbClr>
            </a:outerShdw>
          </a:effectLst>
        </p:spPr>
        <p:txBody>
          <a:bodyPr vert="horz" lIns="91440" tIns="45720" rIns="91440" bIns="45720" rtlCol="0" anchor="b">
            <a:normAutofit/>
          </a:bodyPr>
          <a:lstStyle>
            <a:lvl1pPr algn="ctr" defTabSz="457200" rtl="0" eaLnBrk="1" latinLnBrk="0" hangingPunct="1">
              <a:spcBef>
                <a:spcPct val="0"/>
              </a:spcBef>
              <a:buNone/>
              <a:defRPr sz="5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hu-HU" b="1" dirty="0"/>
              <a:t>SSH távoli elérés</a:t>
            </a:r>
          </a:p>
        </p:txBody>
      </p:sp>
      <p:sp>
        <p:nvSpPr>
          <p:cNvPr id="8" name="Alcím 2">
            <a:extLst>
              <a:ext uri="{FF2B5EF4-FFF2-40B4-BE49-F238E27FC236}">
                <a16:creationId xmlns:a16="http://schemas.microsoft.com/office/drawing/2014/main" id="{CAB4A29E-A82C-4939-B9C9-F02A532EFF98}"/>
              </a:ext>
            </a:extLst>
          </p:cNvPr>
          <p:cNvSpPr txBox="1">
            <a:spLocks/>
          </p:cNvSpPr>
          <p:nvPr/>
        </p:nvSpPr>
        <p:spPr>
          <a:xfrm>
            <a:off x="5774266" y="1862666"/>
            <a:ext cx="5706534" cy="4842926"/>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0" indent="0" algn="ctr" defTabSz="457200" rtl="0" eaLnBrk="1" latinLnBrk="0" hangingPunct="1">
              <a:spcBef>
                <a:spcPct val="20000"/>
              </a:spcBef>
              <a:spcAft>
                <a:spcPts val="600"/>
              </a:spcAft>
              <a:buClr>
                <a:schemeClr val="tx2"/>
              </a:buClr>
              <a:buSzPct val="70000"/>
              <a:buFont typeface="Wingdings 2" charset="2"/>
              <a:buNone/>
              <a:defRPr sz="2000" kern="1200">
                <a:ln>
                  <a:solidFill>
                    <a:schemeClr val="bg1">
                      <a:lumMod val="75000"/>
                      <a:lumOff val="25000"/>
                      <a:alpha val="10000"/>
                    </a:schemeClr>
                  </a:solidFill>
                </a:ln>
                <a:solidFill>
                  <a:schemeClr val="tx1"/>
                </a:solidFill>
                <a:effectLst>
                  <a:outerShdw blurRad="9525" dist="25400" dir="14640000" algn="tl" rotWithShape="0">
                    <a:schemeClr val="bg1">
                      <a:alpha val="30000"/>
                    </a:schemeClr>
                  </a:outerShdw>
                </a:effectLst>
                <a:latin typeface="+mn-lt"/>
                <a:ea typeface="+mn-ea"/>
                <a:cs typeface="+mn-cs"/>
              </a:defRPr>
            </a:lvl1pPr>
            <a:lvl2pPr marL="457200" indent="0" algn="ctr" defTabSz="457200" rtl="0" eaLnBrk="1" latinLnBrk="0" hangingPunct="1">
              <a:spcBef>
                <a:spcPct val="20000"/>
              </a:spcBef>
              <a:spcAft>
                <a:spcPts val="600"/>
              </a:spcAft>
              <a:buClr>
                <a:schemeClr val="tx2"/>
              </a:buClr>
              <a:buSzPct val="70000"/>
              <a:buFont typeface="Wingdings 2" charset="2"/>
              <a:buNone/>
              <a:defRPr sz="18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2pPr>
            <a:lvl3pPr marL="914400" indent="0" algn="ctr" defTabSz="457200" rtl="0" eaLnBrk="1" latinLnBrk="0" hangingPunct="1">
              <a:spcBef>
                <a:spcPct val="20000"/>
              </a:spcBef>
              <a:spcAft>
                <a:spcPts val="600"/>
              </a:spcAft>
              <a:buClr>
                <a:schemeClr val="tx2"/>
              </a:buClr>
              <a:buSzPct val="70000"/>
              <a:buFont typeface="Wingdings 2" charset="2"/>
              <a:buNone/>
              <a:defRPr sz="16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3pPr>
            <a:lvl4pPr marL="13716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4pPr>
            <a:lvl5pPr marL="18288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5pPr>
            <a:lvl6pPr marL="22860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6pPr>
            <a:lvl7pPr marL="27432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7pPr>
            <a:lvl8pPr marL="32004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8pPr>
            <a:lvl9pPr marL="36576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9pPr>
          </a:lstStyle>
          <a:p>
            <a:endParaRPr lang="hu-HU" dirty="0"/>
          </a:p>
        </p:txBody>
      </p:sp>
      <p:sp>
        <p:nvSpPr>
          <p:cNvPr id="9" name="Alcím 2">
            <a:extLst>
              <a:ext uri="{FF2B5EF4-FFF2-40B4-BE49-F238E27FC236}">
                <a16:creationId xmlns:a16="http://schemas.microsoft.com/office/drawing/2014/main" id="{2AA11048-5559-4B05-87CD-2CB73B675786}"/>
              </a:ext>
            </a:extLst>
          </p:cNvPr>
          <p:cNvSpPr txBox="1">
            <a:spLocks/>
          </p:cNvSpPr>
          <p:nvPr/>
        </p:nvSpPr>
        <p:spPr>
          <a:xfrm>
            <a:off x="5714999" y="1790701"/>
            <a:ext cx="5706534" cy="4842926"/>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0" indent="0" algn="ctr" defTabSz="457200" rtl="0" eaLnBrk="1" latinLnBrk="0" hangingPunct="1">
              <a:spcBef>
                <a:spcPct val="20000"/>
              </a:spcBef>
              <a:spcAft>
                <a:spcPts val="600"/>
              </a:spcAft>
              <a:buClr>
                <a:schemeClr val="tx2"/>
              </a:buClr>
              <a:buSzPct val="70000"/>
              <a:buFont typeface="Wingdings 2" charset="2"/>
              <a:buNone/>
              <a:defRPr sz="2000" kern="1200">
                <a:ln>
                  <a:solidFill>
                    <a:schemeClr val="bg1">
                      <a:lumMod val="75000"/>
                      <a:lumOff val="25000"/>
                      <a:alpha val="10000"/>
                    </a:schemeClr>
                  </a:solidFill>
                </a:ln>
                <a:solidFill>
                  <a:schemeClr val="tx1"/>
                </a:solidFill>
                <a:effectLst>
                  <a:outerShdw blurRad="9525" dist="25400" dir="14640000" algn="tl" rotWithShape="0">
                    <a:schemeClr val="bg1">
                      <a:alpha val="30000"/>
                    </a:schemeClr>
                  </a:outerShdw>
                </a:effectLst>
                <a:latin typeface="+mn-lt"/>
                <a:ea typeface="+mn-ea"/>
                <a:cs typeface="+mn-cs"/>
              </a:defRPr>
            </a:lvl1pPr>
            <a:lvl2pPr marL="457200" indent="0" algn="ctr" defTabSz="457200" rtl="0" eaLnBrk="1" latinLnBrk="0" hangingPunct="1">
              <a:spcBef>
                <a:spcPct val="20000"/>
              </a:spcBef>
              <a:spcAft>
                <a:spcPts val="600"/>
              </a:spcAft>
              <a:buClr>
                <a:schemeClr val="tx2"/>
              </a:buClr>
              <a:buSzPct val="70000"/>
              <a:buFont typeface="Wingdings 2" charset="2"/>
              <a:buNone/>
              <a:defRPr sz="18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2pPr>
            <a:lvl3pPr marL="914400" indent="0" algn="ctr" defTabSz="457200" rtl="0" eaLnBrk="1" latinLnBrk="0" hangingPunct="1">
              <a:spcBef>
                <a:spcPct val="20000"/>
              </a:spcBef>
              <a:spcAft>
                <a:spcPts val="600"/>
              </a:spcAft>
              <a:buClr>
                <a:schemeClr val="tx2"/>
              </a:buClr>
              <a:buSzPct val="70000"/>
              <a:buFont typeface="Wingdings 2" charset="2"/>
              <a:buNone/>
              <a:defRPr sz="16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3pPr>
            <a:lvl4pPr marL="13716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4pPr>
            <a:lvl5pPr marL="18288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5pPr>
            <a:lvl6pPr marL="22860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6pPr>
            <a:lvl7pPr marL="27432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7pPr>
            <a:lvl8pPr marL="32004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8pPr>
            <a:lvl9pPr marL="36576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9pPr>
          </a:lstStyle>
          <a:p>
            <a:endParaRPr lang="hu-HU" dirty="0"/>
          </a:p>
        </p:txBody>
      </p:sp>
      <p:sp>
        <p:nvSpPr>
          <p:cNvPr id="10" name="Alcím 2">
            <a:extLst>
              <a:ext uri="{FF2B5EF4-FFF2-40B4-BE49-F238E27FC236}">
                <a16:creationId xmlns:a16="http://schemas.microsoft.com/office/drawing/2014/main" id="{9E9360EE-485B-4BAB-8453-B82A7A02EBB1}"/>
              </a:ext>
            </a:extLst>
          </p:cNvPr>
          <p:cNvSpPr txBox="1">
            <a:spLocks/>
          </p:cNvSpPr>
          <p:nvPr/>
        </p:nvSpPr>
        <p:spPr>
          <a:xfrm>
            <a:off x="8068733" y="1790701"/>
            <a:ext cx="4123267" cy="4825988"/>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0" indent="0" algn="ctr" defTabSz="457200" rtl="0" eaLnBrk="1" latinLnBrk="0" hangingPunct="1">
              <a:spcBef>
                <a:spcPct val="20000"/>
              </a:spcBef>
              <a:spcAft>
                <a:spcPts val="600"/>
              </a:spcAft>
              <a:buClr>
                <a:schemeClr val="tx2"/>
              </a:buClr>
              <a:buSzPct val="70000"/>
              <a:buFont typeface="Wingdings 2" charset="2"/>
              <a:buNone/>
              <a:defRPr sz="2000" kern="1200">
                <a:ln>
                  <a:solidFill>
                    <a:schemeClr val="bg1">
                      <a:lumMod val="75000"/>
                      <a:lumOff val="25000"/>
                      <a:alpha val="10000"/>
                    </a:schemeClr>
                  </a:solidFill>
                </a:ln>
                <a:solidFill>
                  <a:schemeClr val="tx1"/>
                </a:solidFill>
                <a:effectLst>
                  <a:outerShdw blurRad="9525" dist="25400" dir="14640000" algn="tl" rotWithShape="0">
                    <a:schemeClr val="bg1">
                      <a:alpha val="30000"/>
                    </a:schemeClr>
                  </a:outerShdw>
                </a:effectLst>
                <a:latin typeface="+mn-lt"/>
                <a:ea typeface="+mn-ea"/>
                <a:cs typeface="+mn-cs"/>
              </a:defRPr>
            </a:lvl1pPr>
            <a:lvl2pPr marL="457200" indent="0" algn="ctr" defTabSz="457200" rtl="0" eaLnBrk="1" latinLnBrk="0" hangingPunct="1">
              <a:spcBef>
                <a:spcPct val="20000"/>
              </a:spcBef>
              <a:spcAft>
                <a:spcPts val="600"/>
              </a:spcAft>
              <a:buClr>
                <a:schemeClr val="tx2"/>
              </a:buClr>
              <a:buSzPct val="70000"/>
              <a:buFont typeface="Wingdings 2" charset="2"/>
              <a:buNone/>
              <a:defRPr sz="18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2pPr>
            <a:lvl3pPr marL="914400" indent="0" algn="ctr" defTabSz="457200" rtl="0" eaLnBrk="1" latinLnBrk="0" hangingPunct="1">
              <a:spcBef>
                <a:spcPct val="20000"/>
              </a:spcBef>
              <a:spcAft>
                <a:spcPts val="600"/>
              </a:spcAft>
              <a:buClr>
                <a:schemeClr val="tx2"/>
              </a:buClr>
              <a:buSzPct val="70000"/>
              <a:buFont typeface="Wingdings 2" charset="2"/>
              <a:buNone/>
              <a:defRPr sz="16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3pPr>
            <a:lvl4pPr marL="13716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4pPr>
            <a:lvl5pPr marL="18288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5pPr>
            <a:lvl6pPr marL="22860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6pPr>
            <a:lvl7pPr marL="27432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7pPr>
            <a:lvl8pPr marL="32004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8pPr>
            <a:lvl9pPr marL="36576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9pPr>
          </a:lstStyle>
          <a:p>
            <a:r>
              <a:rPr lang="hu-HU" dirty="0"/>
              <a:t>Hostname ciscoasa</a:t>
            </a:r>
          </a:p>
          <a:p>
            <a:r>
              <a:rPr lang="hu-HU" dirty="0"/>
              <a:t>domain-name fixanddrive.org</a:t>
            </a:r>
          </a:p>
          <a:p>
            <a:r>
              <a:rPr lang="hu-HU" dirty="0"/>
              <a:t>crypto key generate rsa general-keys modulus 2048</a:t>
            </a:r>
          </a:p>
          <a:p>
            <a:r>
              <a:rPr lang="hu-HU" dirty="0"/>
              <a:t>username admin password admin123</a:t>
            </a:r>
          </a:p>
          <a:p>
            <a:r>
              <a:rPr lang="hu-HU" dirty="0"/>
              <a:t>ssh 192.168.0.1 255.255.255.0</a:t>
            </a:r>
          </a:p>
          <a:p>
            <a:r>
              <a:rPr lang="hu-HU" dirty="0"/>
              <a:t>authentication ssh console LOCALE</a:t>
            </a:r>
          </a:p>
        </p:txBody>
      </p:sp>
      <p:pic>
        <p:nvPicPr>
          <p:cNvPr id="12" name="Kép 11">
            <a:extLst>
              <a:ext uri="{FF2B5EF4-FFF2-40B4-BE49-F238E27FC236}">
                <a16:creationId xmlns:a16="http://schemas.microsoft.com/office/drawing/2014/main" id="{2FCF0C9B-60CA-4F6B-A120-F71C3C00776E}"/>
              </a:ext>
            </a:extLst>
          </p:cNvPr>
          <p:cNvPicPr>
            <a:picLocks noChangeAspect="1"/>
          </p:cNvPicPr>
          <p:nvPr/>
        </p:nvPicPr>
        <p:blipFill>
          <a:blip r:embed="rId3"/>
          <a:stretch>
            <a:fillRect/>
          </a:stretch>
        </p:blipFill>
        <p:spPr>
          <a:xfrm>
            <a:off x="3545111" y="1495884"/>
            <a:ext cx="4658197" cy="4728669"/>
          </a:xfrm>
          <a:prstGeom prst="rect">
            <a:avLst/>
          </a:prstGeom>
          <a:ln>
            <a:noFill/>
          </a:ln>
          <a:effectLst>
            <a:softEdge rad="112500"/>
          </a:effectLst>
        </p:spPr>
      </p:pic>
    </p:spTree>
    <p:extLst>
      <p:ext uri="{BB962C8B-B14F-4D97-AF65-F5344CB8AC3E}">
        <p14:creationId xmlns:p14="http://schemas.microsoft.com/office/powerpoint/2010/main" val="9274690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3" name="Alcím 2">
            <a:extLst>
              <a:ext uri="{FF2B5EF4-FFF2-40B4-BE49-F238E27FC236}">
                <a16:creationId xmlns:a16="http://schemas.microsoft.com/office/drawing/2014/main" id="{1B5275D5-C3B6-4F58-A3DD-D3A6E5D2355F}"/>
              </a:ext>
            </a:extLst>
          </p:cNvPr>
          <p:cNvSpPr>
            <a:spLocks noGrp="1"/>
          </p:cNvSpPr>
          <p:nvPr>
            <p:ph type="subTitle" idx="1"/>
          </p:nvPr>
        </p:nvSpPr>
        <p:spPr>
          <a:xfrm>
            <a:off x="258885" y="1999704"/>
            <a:ext cx="4132641" cy="3285061"/>
          </a:xfrm>
        </p:spPr>
        <p:txBody>
          <a:bodyPr>
            <a:normAutofit/>
          </a:bodyPr>
          <a:lstStyle/>
          <a:p>
            <a:r>
              <a:rPr lang="hu-HU" dirty="0"/>
              <a:t>R_HOME</a:t>
            </a:r>
          </a:p>
          <a:p>
            <a:r>
              <a:rPr lang="hu-HU" dirty="0"/>
              <a:t>int Tunnel 1</a:t>
            </a:r>
          </a:p>
          <a:p>
            <a:r>
              <a:rPr lang="hu-HU" dirty="0"/>
              <a:t>ip add 172.16.0.9 255.255.255.252</a:t>
            </a:r>
          </a:p>
          <a:p>
            <a:r>
              <a:rPr lang="hu-HU" dirty="0"/>
              <a:t>tunnel source g0/2</a:t>
            </a:r>
          </a:p>
          <a:p>
            <a:r>
              <a:rPr lang="hu-HU" dirty="0"/>
              <a:t>tunnel destination 33.33.33.33</a:t>
            </a:r>
          </a:p>
          <a:p>
            <a:r>
              <a:rPr lang="hu-HU" dirty="0"/>
              <a:t>no </a:t>
            </a:r>
            <a:r>
              <a:rPr lang="hu-HU" dirty="0" err="1"/>
              <a:t>shutdown</a:t>
            </a:r>
            <a:endParaRPr lang="hu-HU" dirty="0"/>
          </a:p>
          <a:p>
            <a:r>
              <a:rPr lang="hu-HU" dirty="0"/>
              <a:t>exit</a:t>
            </a:r>
          </a:p>
        </p:txBody>
      </p:sp>
      <p:sp>
        <p:nvSpPr>
          <p:cNvPr id="4" name="Alcím 2">
            <a:extLst>
              <a:ext uri="{FF2B5EF4-FFF2-40B4-BE49-F238E27FC236}">
                <a16:creationId xmlns:a16="http://schemas.microsoft.com/office/drawing/2014/main" id="{4EF5964F-E86D-4950-96D4-B39260AFA252}"/>
              </a:ext>
            </a:extLst>
          </p:cNvPr>
          <p:cNvSpPr txBox="1">
            <a:spLocks/>
          </p:cNvSpPr>
          <p:nvPr/>
        </p:nvSpPr>
        <p:spPr>
          <a:xfrm>
            <a:off x="6616033" y="1790701"/>
            <a:ext cx="5080000" cy="3285061"/>
          </a:xfrm>
          <a:prstGeom prst="rect">
            <a:avLst/>
          </a:prstGeom>
          <a:effectLst>
            <a:outerShdw blurRad="25400" dir="17880000">
              <a:srgbClr val="000000">
                <a:alpha val="46000"/>
              </a:srgbClr>
            </a:outerShdw>
          </a:effectLst>
        </p:spPr>
        <p:txBody>
          <a:bodyPr vert="horz" lIns="91440" tIns="45720" rIns="91440" bIns="45720" rtlCol="0" anchor="t">
            <a:normAutofit fontScale="92500" lnSpcReduction="10000"/>
          </a:bodyPr>
          <a:lstStyle>
            <a:lvl1pPr marL="0" indent="0" algn="ctr" defTabSz="457200" rtl="0" eaLnBrk="1" latinLnBrk="0" hangingPunct="1">
              <a:spcBef>
                <a:spcPct val="20000"/>
              </a:spcBef>
              <a:spcAft>
                <a:spcPts val="600"/>
              </a:spcAft>
              <a:buClr>
                <a:schemeClr val="tx2"/>
              </a:buClr>
              <a:buSzPct val="70000"/>
              <a:buFont typeface="Wingdings 2" charset="2"/>
              <a:buNone/>
              <a:defRPr sz="2000" kern="1200">
                <a:ln>
                  <a:solidFill>
                    <a:schemeClr val="bg1">
                      <a:lumMod val="75000"/>
                      <a:lumOff val="25000"/>
                      <a:alpha val="10000"/>
                    </a:schemeClr>
                  </a:solidFill>
                </a:ln>
                <a:solidFill>
                  <a:schemeClr val="tx1"/>
                </a:solidFill>
                <a:effectLst>
                  <a:outerShdw blurRad="9525" dist="25400" dir="14640000" algn="tl" rotWithShape="0">
                    <a:schemeClr val="bg1">
                      <a:alpha val="30000"/>
                    </a:schemeClr>
                  </a:outerShdw>
                </a:effectLst>
                <a:latin typeface="+mn-lt"/>
                <a:ea typeface="+mn-ea"/>
                <a:cs typeface="+mn-cs"/>
              </a:defRPr>
            </a:lvl1pPr>
            <a:lvl2pPr marL="457200" indent="0" algn="ctr" defTabSz="457200" rtl="0" eaLnBrk="1" latinLnBrk="0" hangingPunct="1">
              <a:spcBef>
                <a:spcPct val="20000"/>
              </a:spcBef>
              <a:spcAft>
                <a:spcPts val="600"/>
              </a:spcAft>
              <a:buClr>
                <a:schemeClr val="tx2"/>
              </a:buClr>
              <a:buSzPct val="70000"/>
              <a:buFont typeface="Wingdings 2" charset="2"/>
              <a:buNone/>
              <a:defRPr sz="18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2pPr>
            <a:lvl3pPr marL="914400" indent="0" algn="ctr" defTabSz="457200" rtl="0" eaLnBrk="1" latinLnBrk="0" hangingPunct="1">
              <a:spcBef>
                <a:spcPct val="20000"/>
              </a:spcBef>
              <a:spcAft>
                <a:spcPts val="600"/>
              </a:spcAft>
              <a:buClr>
                <a:schemeClr val="tx2"/>
              </a:buClr>
              <a:buSzPct val="70000"/>
              <a:buFont typeface="Wingdings 2" charset="2"/>
              <a:buNone/>
              <a:defRPr sz="16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3pPr>
            <a:lvl4pPr marL="13716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4pPr>
            <a:lvl5pPr marL="18288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5pPr>
            <a:lvl6pPr marL="22860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6pPr>
            <a:lvl7pPr marL="27432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7pPr>
            <a:lvl8pPr marL="32004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8pPr>
            <a:lvl9pPr marL="36576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9pPr>
          </a:lstStyle>
          <a:p>
            <a:r>
              <a:rPr lang="hu-HU" dirty="0"/>
              <a:t>Iroda2</a:t>
            </a:r>
          </a:p>
          <a:p>
            <a:r>
              <a:rPr lang="hu-HU" dirty="0"/>
              <a:t>ip route 192.168.0.0 255.255.255.0 172.16.0.9</a:t>
            </a:r>
          </a:p>
          <a:p>
            <a:r>
              <a:rPr lang="hu-HU" dirty="0"/>
              <a:t>int Tunnel 1</a:t>
            </a:r>
          </a:p>
          <a:p>
            <a:r>
              <a:rPr lang="hu-HU" dirty="0"/>
              <a:t>ip add 172.16.0.10 255.255.255.252</a:t>
            </a:r>
          </a:p>
          <a:p>
            <a:r>
              <a:rPr lang="hu-HU" dirty="0"/>
              <a:t>tunnel source g0/2</a:t>
            </a:r>
          </a:p>
          <a:p>
            <a:r>
              <a:rPr lang="hu-HU" dirty="0"/>
              <a:t>tunnel destination 44.44.44.44</a:t>
            </a:r>
          </a:p>
          <a:p>
            <a:r>
              <a:rPr lang="hu-HU" dirty="0"/>
              <a:t>no shutdown</a:t>
            </a:r>
          </a:p>
          <a:p>
            <a:r>
              <a:rPr lang="hu-HU" dirty="0"/>
              <a:t>exit</a:t>
            </a:r>
          </a:p>
        </p:txBody>
      </p:sp>
      <p:sp>
        <p:nvSpPr>
          <p:cNvPr id="7" name="Cím 1">
            <a:extLst>
              <a:ext uri="{FF2B5EF4-FFF2-40B4-BE49-F238E27FC236}">
                <a16:creationId xmlns:a16="http://schemas.microsoft.com/office/drawing/2014/main" id="{88F10969-D0A7-45D8-990F-E75FE2E8C0B0}"/>
              </a:ext>
            </a:extLst>
          </p:cNvPr>
          <p:cNvSpPr txBox="1">
            <a:spLocks/>
          </p:cNvSpPr>
          <p:nvPr/>
        </p:nvSpPr>
        <p:spPr>
          <a:xfrm>
            <a:off x="0" y="143941"/>
            <a:ext cx="12191999" cy="1646760"/>
          </a:xfrm>
          <a:prstGeom prst="rect">
            <a:avLst/>
          </a:prstGeom>
          <a:effectLst>
            <a:outerShdw blurRad="25400" dir="17880000">
              <a:srgbClr val="000000">
                <a:alpha val="46000"/>
              </a:srgbClr>
            </a:outerShdw>
          </a:effectLst>
        </p:spPr>
        <p:txBody>
          <a:bodyPr vert="horz" lIns="91440" tIns="45720" rIns="91440" bIns="45720" rtlCol="0" anchor="b">
            <a:normAutofit/>
          </a:bodyPr>
          <a:lstStyle>
            <a:lvl1pPr algn="ctr" defTabSz="457200" rtl="0" eaLnBrk="1" latinLnBrk="0" hangingPunct="1">
              <a:spcBef>
                <a:spcPct val="0"/>
              </a:spcBef>
              <a:buNone/>
              <a:defRPr sz="5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hu-HU" b="1" dirty="0"/>
              <a:t>VPN(GRE tunnel)</a:t>
            </a:r>
          </a:p>
        </p:txBody>
      </p:sp>
      <p:pic>
        <p:nvPicPr>
          <p:cNvPr id="9" name="Kép 8">
            <a:extLst>
              <a:ext uri="{FF2B5EF4-FFF2-40B4-BE49-F238E27FC236}">
                <a16:creationId xmlns:a16="http://schemas.microsoft.com/office/drawing/2014/main" id="{6C887A88-4E4A-47FC-9A4C-FD263C6D365A}"/>
              </a:ext>
            </a:extLst>
          </p:cNvPr>
          <p:cNvPicPr>
            <a:picLocks noChangeAspect="1"/>
          </p:cNvPicPr>
          <p:nvPr/>
        </p:nvPicPr>
        <p:blipFill>
          <a:blip r:embed="rId3"/>
          <a:stretch>
            <a:fillRect/>
          </a:stretch>
        </p:blipFill>
        <p:spPr>
          <a:xfrm>
            <a:off x="4070219" y="4202580"/>
            <a:ext cx="3730257" cy="216436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8449743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3" name="Alcím 2">
            <a:extLst>
              <a:ext uri="{FF2B5EF4-FFF2-40B4-BE49-F238E27FC236}">
                <a16:creationId xmlns:a16="http://schemas.microsoft.com/office/drawing/2014/main" id="{1B5275D5-C3B6-4F58-A3DD-D3A6E5D2355F}"/>
              </a:ext>
            </a:extLst>
          </p:cNvPr>
          <p:cNvSpPr>
            <a:spLocks noGrp="1"/>
          </p:cNvSpPr>
          <p:nvPr>
            <p:ph type="subTitle" idx="1"/>
          </p:nvPr>
        </p:nvSpPr>
        <p:spPr>
          <a:xfrm>
            <a:off x="113631" y="1023083"/>
            <a:ext cx="7543800" cy="3928533"/>
          </a:xfrm>
        </p:spPr>
        <p:txBody>
          <a:bodyPr>
            <a:normAutofit/>
          </a:bodyPr>
          <a:lstStyle/>
          <a:p>
            <a:endParaRPr lang="hu-HU" dirty="0"/>
          </a:p>
          <a:p>
            <a:pPr marL="342900" indent="-342900" algn="l">
              <a:buFont typeface="Wingdings" panose="05000000000000000000" pitchFamily="2" charset="2"/>
              <a:buChar char="Ø"/>
            </a:pPr>
            <a:r>
              <a:rPr lang="hu-HU" dirty="0"/>
              <a:t>IP cím:192.168.40.100 </a:t>
            </a:r>
          </a:p>
          <a:p>
            <a:pPr marL="342900" indent="-342900" algn="l">
              <a:buFont typeface="Wingdings" panose="05000000000000000000" pitchFamily="2" charset="2"/>
              <a:buChar char="Ø"/>
            </a:pPr>
            <a:r>
              <a:rPr lang="hu-HU" dirty="0"/>
              <a:t>Hálózati maszk: 255.255.255.0</a:t>
            </a:r>
          </a:p>
          <a:p>
            <a:pPr marL="342900" indent="-342900" algn="l">
              <a:buFont typeface="Wingdings" panose="05000000000000000000" pitchFamily="2" charset="2"/>
              <a:buChar char="Ø"/>
            </a:pPr>
            <a:r>
              <a:rPr lang="hu-HU" dirty="0"/>
              <a:t>rendszergazda jelszó:Passw123</a:t>
            </a:r>
          </a:p>
          <a:p>
            <a:pPr marL="342900" indent="-342900" algn="l">
              <a:buFont typeface="Wingdings" panose="05000000000000000000" pitchFamily="2" charset="2"/>
              <a:buChar char="Ø"/>
            </a:pPr>
            <a:r>
              <a:rPr lang="hu-HU" dirty="0"/>
              <a:t>DHCP</a:t>
            </a:r>
          </a:p>
          <a:p>
            <a:pPr marL="342900" indent="-342900" algn="l">
              <a:buFont typeface="Wingdings" panose="05000000000000000000" pitchFamily="2" charset="2"/>
              <a:buChar char="Ø"/>
            </a:pPr>
            <a:r>
              <a:rPr lang="hu-HU" dirty="0"/>
              <a:t>ip nat inside source static 192.168.40.100 11.11.11.23</a:t>
            </a:r>
          </a:p>
          <a:p>
            <a:pPr marL="342900" indent="-342900" algn="l">
              <a:buFont typeface="Wingdings" panose="05000000000000000000" pitchFamily="2" charset="2"/>
              <a:buChar char="Ø"/>
            </a:pPr>
            <a:r>
              <a:rPr lang="hu-HU" dirty="0"/>
              <a:t>Címfoglalás (nyomtató)            04-7C-16-21-95-71 192.168.40.3</a:t>
            </a:r>
          </a:p>
          <a:p>
            <a:pPr marL="342900" indent="-342900" algn="l">
              <a:buFont typeface="Wingdings" panose="05000000000000000000" pitchFamily="2" charset="2"/>
              <a:buChar char="Ø"/>
            </a:pPr>
            <a:endParaRPr lang="hu-HU" dirty="0"/>
          </a:p>
        </p:txBody>
      </p:sp>
      <p:pic>
        <p:nvPicPr>
          <p:cNvPr id="7" name="Kép 6">
            <a:extLst>
              <a:ext uri="{FF2B5EF4-FFF2-40B4-BE49-F238E27FC236}">
                <a16:creationId xmlns:a16="http://schemas.microsoft.com/office/drawing/2014/main" id="{4A1048E9-CE0E-4AA2-B352-B177F3F1CAB0}"/>
              </a:ext>
            </a:extLst>
          </p:cNvPr>
          <p:cNvPicPr>
            <a:picLocks noChangeAspect="1"/>
          </p:cNvPicPr>
          <p:nvPr/>
        </p:nvPicPr>
        <p:blipFill>
          <a:blip r:embed="rId3"/>
          <a:stretch>
            <a:fillRect/>
          </a:stretch>
        </p:blipFill>
        <p:spPr>
          <a:xfrm>
            <a:off x="7439875" y="1609648"/>
            <a:ext cx="4752124" cy="4819818"/>
          </a:xfrm>
          <a:prstGeom prst="rect">
            <a:avLst/>
          </a:prstGeom>
          <a:ln>
            <a:noFill/>
          </a:ln>
          <a:effectLst>
            <a:softEdge rad="112500"/>
          </a:effectLst>
        </p:spPr>
      </p:pic>
      <p:pic>
        <p:nvPicPr>
          <p:cNvPr id="9" name="Kép 8">
            <a:extLst>
              <a:ext uri="{FF2B5EF4-FFF2-40B4-BE49-F238E27FC236}">
                <a16:creationId xmlns:a16="http://schemas.microsoft.com/office/drawing/2014/main" id="{A02D84BE-40A9-42FB-B897-BA44D3C2628E}"/>
              </a:ext>
            </a:extLst>
          </p:cNvPr>
          <p:cNvPicPr>
            <a:picLocks noChangeAspect="1"/>
          </p:cNvPicPr>
          <p:nvPr/>
        </p:nvPicPr>
        <p:blipFill>
          <a:blip r:embed="rId4"/>
          <a:stretch>
            <a:fillRect/>
          </a:stretch>
        </p:blipFill>
        <p:spPr>
          <a:xfrm>
            <a:off x="113631" y="4566137"/>
            <a:ext cx="6581814" cy="2064712"/>
          </a:xfrm>
          <a:prstGeom prst="rect">
            <a:avLst/>
          </a:prstGeom>
          <a:ln>
            <a:noFill/>
          </a:ln>
          <a:effectLst>
            <a:softEdge rad="112500"/>
          </a:effectLst>
        </p:spPr>
      </p:pic>
      <p:sp>
        <p:nvSpPr>
          <p:cNvPr id="10" name="Cím 1">
            <a:extLst>
              <a:ext uri="{FF2B5EF4-FFF2-40B4-BE49-F238E27FC236}">
                <a16:creationId xmlns:a16="http://schemas.microsoft.com/office/drawing/2014/main" id="{2E1CABC4-6D7A-46D0-92CC-F275CE04EF0A}"/>
              </a:ext>
            </a:extLst>
          </p:cNvPr>
          <p:cNvSpPr txBox="1">
            <a:spLocks/>
          </p:cNvSpPr>
          <p:nvPr/>
        </p:nvSpPr>
        <p:spPr>
          <a:xfrm>
            <a:off x="0" y="-454767"/>
            <a:ext cx="12191999" cy="1646760"/>
          </a:xfrm>
          <a:prstGeom prst="rect">
            <a:avLst/>
          </a:prstGeom>
          <a:effectLst>
            <a:outerShdw blurRad="25400" dir="17880000">
              <a:srgbClr val="000000">
                <a:alpha val="46000"/>
              </a:srgbClr>
            </a:outerShdw>
          </a:effectLst>
        </p:spPr>
        <p:txBody>
          <a:bodyPr vert="horz" lIns="91440" tIns="45720" rIns="91440" bIns="45720" rtlCol="0" anchor="b">
            <a:normAutofit/>
          </a:bodyPr>
          <a:lstStyle>
            <a:lvl1pPr algn="ctr" defTabSz="457200" rtl="0" eaLnBrk="1" latinLnBrk="0" hangingPunct="1">
              <a:spcBef>
                <a:spcPct val="0"/>
              </a:spcBef>
              <a:buNone/>
              <a:defRPr sz="5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hu-HU" b="1" dirty="0"/>
              <a:t>Windows szerver</a:t>
            </a:r>
          </a:p>
        </p:txBody>
      </p:sp>
    </p:spTree>
    <p:extLst>
      <p:ext uri="{BB962C8B-B14F-4D97-AF65-F5344CB8AC3E}">
        <p14:creationId xmlns:p14="http://schemas.microsoft.com/office/powerpoint/2010/main" val="39042269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3" name="Alcím 2">
            <a:extLst>
              <a:ext uri="{FF2B5EF4-FFF2-40B4-BE49-F238E27FC236}">
                <a16:creationId xmlns:a16="http://schemas.microsoft.com/office/drawing/2014/main" id="{1B5275D5-C3B6-4F58-A3DD-D3A6E5D2355F}"/>
              </a:ext>
            </a:extLst>
          </p:cNvPr>
          <p:cNvSpPr>
            <a:spLocks noGrp="1"/>
          </p:cNvSpPr>
          <p:nvPr>
            <p:ph type="subTitle" idx="1"/>
          </p:nvPr>
        </p:nvSpPr>
        <p:spPr>
          <a:xfrm>
            <a:off x="212182" y="2046266"/>
            <a:ext cx="7125607" cy="4258720"/>
          </a:xfrm>
        </p:spPr>
        <p:txBody>
          <a:bodyPr>
            <a:normAutofit fontScale="92500"/>
          </a:bodyPr>
          <a:lstStyle/>
          <a:p>
            <a:pPr marL="342900" indent="-342900" algn="l">
              <a:buFont typeface="Wingdings" panose="05000000000000000000" pitchFamily="2" charset="2"/>
              <a:buChar char="Ø"/>
            </a:pPr>
            <a:r>
              <a:rPr lang="hu-HU" dirty="0"/>
              <a:t>IP cím:192.168.50.100 </a:t>
            </a:r>
          </a:p>
          <a:p>
            <a:pPr marL="342900" indent="-342900" algn="l">
              <a:buFont typeface="Wingdings" panose="05000000000000000000" pitchFamily="2" charset="2"/>
              <a:buChar char="Ø"/>
            </a:pPr>
            <a:r>
              <a:rPr lang="hu-HU" dirty="0"/>
              <a:t>Hálózati maszk: 255.255.255.0</a:t>
            </a:r>
          </a:p>
          <a:p>
            <a:pPr marL="342900" indent="-342900" algn="l">
              <a:buFont typeface="Wingdings" panose="05000000000000000000" pitchFamily="2" charset="2"/>
              <a:buChar char="Ø"/>
            </a:pPr>
            <a:r>
              <a:rPr lang="hu-HU" dirty="0"/>
              <a:t>rendszergazda jelszó:Passw123</a:t>
            </a:r>
          </a:p>
          <a:p>
            <a:pPr marL="342900" indent="-342900" algn="l">
              <a:buFont typeface="Wingdings" panose="05000000000000000000" pitchFamily="2" charset="2"/>
              <a:buChar char="Ø"/>
            </a:pPr>
            <a:r>
              <a:rPr lang="hu-HU" dirty="0"/>
              <a:t>DHCP</a:t>
            </a:r>
          </a:p>
          <a:p>
            <a:pPr marL="342900" indent="-342900" algn="l">
              <a:buFont typeface="Wingdings" panose="05000000000000000000" pitchFamily="2" charset="2"/>
              <a:buChar char="Ø"/>
            </a:pPr>
            <a:r>
              <a:rPr lang="hu-HU" dirty="0"/>
              <a:t>SSH távoli elérés</a:t>
            </a:r>
          </a:p>
          <a:p>
            <a:pPr marL="342900" indent="-342900" algn="l">
              <a:buFont typeface="Wingdings" panose="05000000000000000000" pitchFamily="2" charset="2"/>
              <a:buChar char="Ø"/>
            </a:pPr>
            <a:r>
              <a:rPr lang="hu-HU" dirty="0"/>
              <a:t>ip nat inside source static 192.168.50.100 11.11.11.24</a:t>
            </a:r>
          </a:p>
          <a:p>
            <a:pPr marL="342900" indent="-342900" algn="l">
              <a:buFont typeface="Wingdings" panose="05000000000000000000" pitchFamily="2" charset="2"/>
              <a:buChar char="Ø"/>
            </a:pPr>
            <a:r>
              <a:rPr lang="hu-HU" dirty="0"/>
              <a:t>FTP és HTTP port kiengedve</a:t>
            </a:r>
          </a:p>
          <a:p>
            <a:pPr algn="l"/>
            <a:r>
              <a:rPr lang="en-US" dirty="0"/>
              <a:t>access-list 101 permit tcp any host 192.168.50.100 0.0.0.255 eq 20</a:t>
            </a:r>
          </a:p>
          <a:p>
            <a:pPr algn="l"/>
            <a:r>
              <a:rPr lang="en-US" dirty="0"/>
              <a:t>access-list 101 permit tcp any host 192.168.50.100 0.0.0.255 eq 21</a:t>
            </a:r>
          </a:p>
          <a:p>
            <a:pPr algn="l"/>
            <a:r>
              <a:rPr lang="en-US" dirty="0"/>
              <a:t>access-list 101 permit tcp any host 192.168.50.100 0.0.0.255 eq 80</a:t>
            </a:r>
            <a:endParaRPr lang="hu-HU" dirty="0"/>
          </a:p>
        </p:txBody>
      </p:sp>
      <p:sp>
        <p:nvSpPr>
          <p:cNvPr id="6" name="Cím 1">
            <a:extLst>
              <a:ext uri="{FF2B5EF4-FFF2-40B4-BE49-F238E27FC236}">
                <a16:creationId xmlns:a16="http://schemas.microsoft.com/office/drawing/2014/main" id="{C13CF24D-8795-402A-816E-530AB27D23B5}"/>
              </a:ext>
            </a:extLst>
          </p:cNvPr>
          <p:cNvSpPr txBox="1">
            <a:spLocks/>
          </p:cNvSpPr>
          <p:nvPr/>
        </p:nvSpPr>
        <p:spPr>
          <a:xfrm>
            <a:off x="0" y="-102707"/>
            <a:ext cx="12191999" cy="1646760"/>
          </a:xfrm>
          <a:prstGeom prst="rect">
            <a:avLst/>
          </a:prstGeom>
          <a:effectLst>
            <a:outerShdw blurRad="25400" dir="17880000">
              <a:srgbClr val="000000">
                <a:alpha val="46000"/>
              </a:srgbClr>
            </a:outerShdw>
          </a:effectLst>
        </p:spPr>
        <p:txBody>
          <a:bodyPr vert="horz" lIns="91440" tIns="45720" rIns="91440" bIns="45720" rtlCol="0" anchor="b">
            <a:normAutofit/>
          </a:bodyPr>
          <a:lstStyle>
            <a:lvl1pPr algn="ctr" defTabSz="457200" rtl="0" eaLnBrk="1" latinLnBrk="0" hangingPunct="1">
              <a:spcBef>
                <a:spcPct val="0"/>
              </a:spcBef>
              <a:buNone/>
              <a:defRPr sz="5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hu-HU" b="1" dirty="0"/>
              <a:t>Linux szerver</a:t>
            </a:r>
          </a:p>
        </p:txBody>
      </p:sp>
      <p:pic>
        <p:nvPicPr>
          <p:cNvPr id="8" name="Kép 7">
            <a:extLst>
              <a:ext uri="{FF2B5EF4-FFF2-40B4-BE49-F238E27FC236}">
                <a16:creationId xmlns:a16="http://schemas.microsoft.com/office/drawing/2014/main" id="{A97CD0C0-E188-41A3-8ED0-EC13EA4D1C49}"/>
              </a:ext>
            </a:extLst>
          </p:cNvPr>
          <p:cNvPicPr>
            <a:picLocks noChangeAspect="1"/>
          </p:cNvPicPr>
          <p:nvPr/>
        </p:nvPicPr>
        <p:blipFill>
          <a:blip r:embed="rId3"/>
          <a:stretch>
            <a:fillRect/>
          </a:stretch>
        </p:blipFill>
        <p:spPr>
          <a:xfrm>
            <a:off x="7074568" y="1616870"/>
            <a:ext cx="5117431" cy="5190329"/>
          </a:xfrm>
          <a:prstGeom prst="rect">
            <a:avLst/>
          </a:prstGeom>
          <a:ln>
            <a:noFill/>
          </a:ln>
          <a:effectLst>
            <a:softEdge rad="112500"/>
          </a:effectLst>
        </p:spPr>
      </p:pic>
    </p:spTree>
    <p:extLst>
      <p:ext uri="{BB962C8B-B14F-4D97-AF65-F5344CB8AC3E}">
        <p14:creationId xmlns:p14="http://schemas.microsoft.com/office/powerpoint/2010/main" val="14129204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009F0236-FED8-4748-93F6-C6C2F1A72880}"/>
              </a:ext>
            </a:extLst>
          </p:cNvPr>
          <p:cNvSpPr>
            <a:spLocks noGrp="1"/>
          </p:cNvSpPr>
          <p:nvPr>
            <p:ph type="title"/>
          </p:nvPr>
        </p:nvSpPr>
        <p:spPr>
          <a:xfrm>
            <a:off x="919119" y="1054768"/>
            <a:ext cx="10353762" cy="3589421"/>
          </a:xfrm>
        </p:spPr>
        <p:txBody>
          <a:bodyPr>
            <a:normAutofit/>
          </a:bodyPr>
          <a:lstStyle/>
          <a:p>
            <a:r>
              <a:rPr lang="hu-HU" sz="7200" b="1" dirty="0">
                <a:latin typeface="Eras Light ITC" panose="020B0402030504020804" pitchFamily="34" charset="0"/>
              </a:rPr>
              <a:t>Köszönjük a figyelmet!</a:t>
            </a:r>
          </a:p>
        </p:txBody>
      </p:sp>
    </p:spTree>
    <p:extLst>
      <p:ext uri="{BB962C8B-B14F-4D97-AF65-F5344CB8AC3E}">
        <p14:creationId xmlns:p14="http://schemas.microsoft.com/office/powerpoint/2010/main" val="355876969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la">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TM04033929[[fn=Pala]]</Template>
  <TotalTime>143</TotalTime>
  <Words>770</Words>
  <Application>Microsoft Office PowerPoint</Application>
  <PresentationFormat>Szélesvásznú</PresentationFormat>
  <Paragraphs>124</Paragraphs>
  <Slides>13</Slides>
  <Notes>0</Notes>
  <HiddenSlides>0</HiddenSlides>
  <MMClips>0</MMClips>
  <ScaleCrop>false</ScaleCrop>
  <HeadingPairs>
    <vt:vector size="6" baseType="variant">
      <vt:variant>
        <vt:lpstr>Használt betűtípusok</vt:lpstr>
      </vt:variant>
      <vt:variant>
        <vt:i4>9</vt:i4>
      </vt:variant>
      <vt:variant>
        <vt:lpstr>Téma</vt:lpstr>
      </vt:variant>
      <vt:variant>
        <vt:i4>1</vt:i4>
      </vt:variant>
      <vt:variant>
        <vt:lpstr>Diacímek</vt:lpstr>
      </vt:variant>
      <vt:variant>
        <vt:i4>13</vt:i4>
      </vt:variant>
    </vt:vector>
  </HeadingPairs>
  <TitlesOfParts>
    <vt:vector size="23" baseType="lpstr">
      <vt:lpstr>Arial Black</vt:lpstr>
      <vt:lpstr>Bahnschrift Light Condensed</vt:lpstr>
      <vt:lpstr>Calisto MT</vt:lpstr>
      <vt:lpstr>Consolas</vt:lpstr>
      <vt:lpstr>Eras Light ITC</vt:lpstr>
      <vt:lpstr>MS Reference Sans Serif</vt:lpstr>
      <vt:lpstr>Trebuchet MS</vt:lpstr>
      <vt:lpstr>Wingdings</vt:lpstr>
      <vt:lpstr>Wingdings 2</vt:lpstr>
      <vt:lpstr>Pala</vt:lpstr>
      <vt:lpstr>Projekt remek</vt:lpstr>
      <vt:lpstr>Fix and Drive (Hungarian)</vt:lpstr>
      <vt:lpstr>Fix and Drive (English)</vt:lpstr>
      <vt:lpstr>A megvalósított hálózat részei</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Köszönjük a figyelmet!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Projekt remek</dc:title>
  <dc:creator>aa aa</dc:creator>
  <cp:lastModifiedBy>206Tanári</cp:lastModifiedBy>
  <cp:revision>28</cp:revision>
  <dcterms:created xsi:type="dcterms:W3CDTF">2025-03-31T07:54:21Z</dcterms:created>
  <dcterms:modified xsi:type="dcterms:W3CDTF">2026-03-05T12:21:26Z</dcterms:modified>
</cp:coreProperties>
</file>